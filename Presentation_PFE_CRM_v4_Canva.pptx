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jp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657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ESPRIT — Génie Logiciel</a:t>
            </a:r>
            <a:endParaRPr lang="en-US" sz="1300" dirty="0"/>
          </a:p>
        </p:txBody>
      </p:sp>
      <p:sp>
        <p:nvSpPr>
          <p:cNvPr id="3" name="Text 1"/>
          <p:cNvSpPr/>
          <p:nvPr/>
        </p:nvSpPr>
        <p:spPr>
          <a:xfrm>
            <a:off x="7071055" y="411480"/>
            <a:ext cx="4572000" cy="365760"/>
          </a:xfrm>
          <a:prstGeom prst="rect">
            <a:avLst/>
          </a:prstGeom>
          <a:noFill/>
          <a:ln/>
        </p:spPr>
        <p:txBody>
          <a:bodyPr wrap="square" lIns="0" tIns="0" rIns="0" bIns="0" rtlCol="0" anchor="ctr"/>
          <a:lstStyle/>
          <a:p>
            <a:pPr algn="r" indent="0" marL="0">
              <a:buNone/>
            </a:pPr>
            <a:r>
              <a:rPr lang="en-US" sz="1300" dirty="0">
                <a:solidFill>
                  <a:srgbClr val="FFFFFF"/>
                </a:solidFill>
                <a:latin typeface="Arial" pitchFamily="34" charset="0"/>
                <a:ea typeface="Arial" pitchFamily="34" charset="-122"/>
                <a:cs typeface="Arial" pitchFamily="34" charset="-120"/>
              </a:rPr>
              <a:t>3LM Solutions</a:t>
            </a:r>
            <a:endParaRPr lang="en-US" sz="1300" dirty="0"/>
          </a:p>
        </p:txBody>
      </p:sp>
      <p:pic>
        <p:nvPicPr>
          <p:cNvPr id="4" name="Image 0" descr="/tmp/pfe_canva/assets/logo3lm.jpg">    </p:cNvPr>
          <p:cNvPicPr>
            <a:picLocks noChangeAspect="1"/>
          </p:cNvPicPr>
          <p:nvPr/>
        </p:nvPicPr>
        <p:blipFill>
          <a:blip r:embed="rId2"/>
          <a:stretch>
            <a:fillRect/>
          </a:stretch>
        </p:blipFill>
        <p:spPr>
          <a:xfrm>
            <a:off x="10637215" y="868680"/>
            <a:ext cx="914400" cy="914400"/>
          </a:xfrm>
          <a:prstGeom prst="rect">
            <a:avLst/>
          </a:prstGeom>
        </p:spPr>
      </p:pic>
      <p:sp>
        <p:nvSpPr>
          <p:cNvPr id="5" name="Shape 2"/>
          <p:cNvSpPr/>
          <p:nvPr/>
        </p:nvSpPr>
        <p:spPr>
          <a:xfrm>
            <a:off x="594360" y="1874520"/>
            <a:ext cx="0" cy="1737360"/>
          </a:xfrm>
          <a:prstGeom prst="line">
            <a:avLst/>
          </a:prstGeom>
          <a:noFill/>
          <a:ln w="25400">
            <a:solidFill>
              <a:srgbClr val="FFFFFF"/>
            </a:solidFill>
            <a:prstDash val="solid"/>
          </a:ln>
        </p:spPr>
      </p:sp>
      <p:sp>
        <p:nvSpPr>
          <p:cNvPr id="6" name="Text 3"/>
          <p:cNvSpPr/>
          <p:nvPr/>
        </p:nvSpPr>
        <p:spPr>
          <a:xfrm>
            <a:off x="868680" y="1691640"/>
            <a:ext cx="8778240" cy="2103120"/>
          </a:xfrm>
          <a:prstGeom prst="rect">
            <a:avLst/>
          </a:prstGeom>
          <a:noFill/>
          <a:ln/>
        </p:spPr>
        <p:txBody>
          <a:bodyPr wrap="square" lIns="0" tIns="0" rIns="0" bIns="0" rtlCol="0" anchor="t"/>
          <a:lstStyle/>
          <a:p>
            <a:pPr algn="l" indent="0" marL="0">
              <a:lnSpc>
                <a:spcPts val="4400"/>
              </a:lnSpc>
              <a:buNone/>
            </a:pPr>
            <a:r>
              <a:rPr lang="en-US" sz="4000" b="1" dirty="0">
                <a:solidFill>
                  <a:srgbClr val="FFFFFF"/>
                </a:solidFill>
                <a:latin typeface="Arial" pitchFamily="34" charset="0"/>
                <a:ea typeface="Arial" pitchFamily="34" charset="-122"/>
                <a:cs typeface="Arial" pitchFamily="34" charset="-120"/>
              </a:rPr>
              <a:t>Conception et développement d'une plateforme CRM de gestion de centre d'appels</a:t>
            </a:r>
            <a:endParaRPr lang="en-US" sz="4000" dirty="0"/>
          </a:p>
        </p:txBody>
      </p:sp>
      <p:sp>
        <p:nvSpPr>
          <p:cNvPr id="7" name="Text 4"/>
          <p:cNvSpPr/>
          <p:nvPr/>
        </p:nvSpPr>
        <p:spPr>
          <a:xfrm>
            <a:off x="896112" y="3977640"/>
            <a:ext cx="7315200" cy="36576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Projet de Fin d’Études</a:t>
            </a:r>
            <a:endParaRPr lang="en-US" sz="1700" dirty="0"/>
          </a:p>
        </p:txBody>
      </p:sp>
      <p:sp>
        <p:nvSpPr>
          <p:cNvPr id="8" name="Text 5"/>
          <p:cNvSpPr/>
          <p:nvPr/>
        </p:nvSpPr>
        <p:spPr>
          <a:xfrm>
            <a:off x="896112" y="4370832"/>
            <a:ext cx="7315200" cy="3657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Zied Ammar</a:t>
            </a:r>
            <a:endParaRPr lang="en-US" sz="1900" dirty="0"/>
          </a:p>
        </p:txBody>
      </p:sp>
      <p:sp>
        <p:nvSpPr>
          <p:cNvPr id="9" name="Text 6"/>
          <p:cNvSpPr/>
          <p:nvPr/>
        </p:nvSpPr>
        <p:spPr>
          <a:xfrm>
            <a:off x="896112" y="5349240"/>
            <a:ext cx="2514600" cy="274320"/>
          </a:xfrm>
          <a:prstGeom prst="rect">
            <a:avLst/>
          </a:prstGeom>
          <a:noFill/>
          <a:ln/>
        </p:spPr>
        <p:txBody>
          <a:bodyPr wrap="square" lIns="0" tIns="0" rIns="0" bIns="0" rtlCol="0" anchor="ctr"/>
          <a:lstStyle/>
          <a:p>
            <a:pPr indent="0" marL="0">
              <a:buNone/>
            </a:pPr>
            <a:r>
              <a:rPr lang="en-US" sz="950" spc="100" kern="0" dirty="0">
                <a:solidFill>
                  <a:srgbClr val="C7CEEA"/>
                </a:solidFill>
                <a:latin typeface="Arial" pitchFamily="34" charset="0"/>
                <a:ea typeface="Arial" pitchFamily="34" charset="-122"/>
                <a:cs typeface="Arial" pitchFamily="34" charset="-120"/>
              </a:rPr>
              <a:t>ENTREPRISE D’ACCUEIL</a:t>
            </a:r>
            <a:endParaRPr lang="en-US" sz="950" dirty="0"/>
          </a:p>
        </p:txBody>
      </p:sp>
      <p:sp>
        <p:nvSpPr>
          <p:cNvPr id="10" name="Text 7"/>
          <p:cNvSpPr/>
          <p:nvPr/>
        </p:nvSpPr>
        <p:spPr>
          <a:xfrm>
            <a:off x="896112" y="5605272"/>
            <a:ext cx="251460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3LM Solutions</a:t>
            </a:r>
            <a:endParaRPr lang="en-US" sz="1250" dirty="0"/>
          </a:p>
        </p:txBody>
      </p:sp>
      <p:sp>
        <p:nvSpPr>
          <p:cNvPr id="11" name="Text 8"/>
          <p:cNvSpPr/>
          <p:nvPr/>
        </p:nvSpPr>
        <p:spPr>
          <a:xfrm>
            <a:off x="3593592" y="5349240"/>
            <a:ext cx="2514600" cy="274320"/>
          </a:xfrm>
          <a:prstGeom prst="rect">
            <a:avLst/>
          </a:prstGeom>
          <a:noFill/>
          <a:ln/>
        </p:spPr>
        <p:txBody>
          <a:bodyPr wrap="square" lIns="0" tIns="0" rIns="0" bIns="0" rtlCol="0" anchor="ctr"/>
          <a:lstStyle/>
          <a:p>
            <a:pPr indent="0" marL="0">
              <a:buNone/>
            </a:pPr>
            <a:r>
              <a:rPr lang="en-US" sz="950" spc="100" kern="0" dirty="0">
                <a:solidFill>
                  <a:srgbClr val="C7CEEA"/>
                </a:solidFill>
                <a:latin typeface="Arial" pitchFamily="34" charset="0"/>
                <a:ea typeface="Arial" pitchFamily="34" charset="-122"/>
                <a:cs typeface="Arial" pitchFamily="34" charset="-120"/>
              </a:rPr>
              <a:t>ENCADRANT ACADÉMIQUE</a:t>
            </a:r>
            <a:endParaRPr lang="en-US" sz="950" dirty="0"/>
          </a:p>
        </p:txBody>
      </p:sp>
      <p:sp>
        <p:nvSpPr>
          <p:cNvPr id="12" name="Text 9"/>
          <p:cNvSpPr/>
          <p:nvPr/>
        </p:nvSpPr>
        <p:spPr>
          <a:xfrm>
            <a:off x="3593592" y="5605272"/>
            <a:ext cx="251460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Mr Anis Haj Youssef</a:t>
            </a:r>
            <a:endParaRPr lang="en-US" sz="1250" dirty="0"/>
          </a:p>
        </p:txBody>
      </p:sp>
      <p:sp>
        <p:nvSpPr>
          <p:cNvPr id="13" name="Text 10"/>
          <p:cNvSpPr/>
          <p:nvPr/>
        </p:nvSpPr>
        <p:spPr>
          <a:xfrm>
            <a:off x="6291072" y="5349240"/>
            <a:ext cx="2514600" cy="274320"/>
          </a:xfrm>
          <a:prstGeom prst="rect">
            <a:avLst/>
          </a:prstGeom>
          <a:noFill/>
          <a:ln/>
        </p:spPr>
        <p:txBody>
          <a:bodyPr wrap="square" lIns="0" tIns="0" rIns="0" bIns="0" rtlCol="0" anchor="ctr"/>
          <a:lstStyle/>
          <a:p>
            <a:pPr indent="0" marL="0">
              <a:buNone/>
            </a:pPr>
            <a:r>
              <a:rPr lang="en-US" sz="950" spc="100" kern="0" dirty="0">
                <a:solidFill>
                  <a:srgbClr val="C7CEEA"/>
                </a:solidFill>
                <a:latin typeface="Arial" pitchFamily="34" charset="0"/>
                <a:ea typeface="Arial" pitchFamily="34" charset="-122"/>
                <a:cs typeface="Arial" pitchFamily="34" charset="-120"/>
              </a:rPr>
              <a:t>ENCADRANTE ENTREPRISE</a:t>
            </a:r>
            <a:endParaRPr lang="en-US" sz="950" dirty="0"/>
          </a:p>
        </p:txBody>
      </p:sp>
      <p:sp>
        <p:nvSpPr>
          <p:cNvPr id="14" name="Text 11"/>
          <p:cNvSpPr/>
          <p:nvPr/>
        </p:nvSpPr>
        <p:spPr>
          <a:xfrm>
            <a:off x="6291072" y="5605272"/>
            <a:ext cx="251460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Me Oumaima Jlejla</a:t>
            </a:r>
            <a:endParaRPr lang="en-US" sz="1250" dirty="0"/>
          </a:p>
        </p:txBody>
      </p:sp>
      <p:sp>
        <p:nvSpPr>
          <p:cNvPr id="15" name="Text 12"/>
          <p:cNvSpPr/>
          <p:nvPr/>
        </p:nvSpPr>
        <p:spPr>
          <a:xfrm>
            <a:off x="8988552" y="5349240"/>
            <a:ext cx="2514600" cy="274320"/>
          </a:xfrm>
          <a:prstGeom prst="rect">
            <a:avLst/>
          </a:prstGeom>
          <a:noFill/>
          <a:ln/>
        </p:spPr>
        <p:txBody>
          <a:bodyPr wrap="square" lIns="0" tIns="0" rIns="0" bIns="0" rtlCol="0" anchor="ctr"/>
          <a:lstStyle/>
          <a:p>
            <a:pPr indent="0" marL="0">
              <a:buNone/>
            </a:pPr>
            <a:r>
              <a:rPr lang="en-US" sz="950" spc="100" kern="0" dirty="0">
                <a:solidFill>
                  <a:srgbClr val="C7CEEA"/>
                </a:solidFill>
                <a:latin typeface="Arial" pitchFamily="34" charset="0"/>
                <a:ea typeface="Arial" pitchFamily="34" charset="-122"/>
                <a:cs typeface="Arial" pitchFamily="34" charset="-120"/>
              </a:rPr>
              <a:t>ANNÉE UNIVERSITAIRE</a:t>
            </a:r>
            <a:endParaRPr lang="en-US" sz="950" dirty="0"/>
          </a:p>
        </p:txBody>
      </p:sp>
      <p:sp>
        <p:nvSpPr>
          <p:cNvPr id="16" name="Text 13"/>
          <p:cNvSpPr/>
          <p:nvPr/>
        </p:nvSpPr>
        <p:spPr>
          <a:xfrm>
            <a:off x="8988552" y="5605272"/>
            <a:ext cx="251460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2025 –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0" cy="777240"/>
          </a:xfrm>
          <a:prstGeom prst="line">
            <a:avLst/>
          </a:prstGeom>
          <a:noFill/>
          <a:ln w="25400">
            <a:solidFill>
              <a:srgbClr val="30459E"/>
            </a:solidFill>
            <a:prstDash val="solid"/>
          </a:ln>
        </p:spPr>
      </p:sp>
      <p:sp>
        <p:nvSpPr>
          <p:cNvPr id="3" name="Text 1"/>
          <p:cNvSpPr/>
          <p:nvPr/>
        </p:nvSpPr>
        <p:spPr>
          <a:xfrm>
            <a:off x="896112" y="411480"/>
            <a:ext cx="5486400" cy="822960"/>
          </a:xfrm>
          <a:prstGeom prst="rect">
            <a:avLst/>
          </a:prstGeom>
          <a:noFill/>
          <a:ln/>
        </p:spPr>
        <p:txBody>
          <a:bodyPr wrap="square" lIns="0" tIns="0" rIns="0" bIns="0" rtlCol="0" anchor="ctr"/>
          <a:lstStyle/>
          <a:p>
            <a:pPr indent="0" marL="0">
              <a:buNone/>
            </a:pPr>
            <a:r>
              <a:rPr lang="en-US" sz="3400" b="1" dirty="0">
                <a:solidFill>
                  <a:srgbClr val="30459E"/>
                </a:solidFill>
                <a:latin typeface="Arial" pitchFamily="34" charset="0"/>
                <a:ea typeface="Arial" pitchFamily="34" charset="-122"/>
                <a:cs typeface="Arial" pitchFamily="34" charset="-120"/>
              </a:rPr>
              <a:t>SOMMAIRE</a:t>
            </a:r>
            <a:endParaRPr lang="en-US" sz="3400" dirty="0"/>
          </a:p>
        </p:txBody>
      </p:sp>
      <p:sp>
        <p:nvSpPr>
          <p:cNvPr id="4" name="Shape 2"/>
          <p:cNvSpPr/>
          <p:nvPr/>
        </p:nvSpPr>
        <p:spPr>
          <a:xfrm>
            <a:off x="896112" y="1554480"/>
            <a:ext cx="10399471" cy="4572000"/>
          </a:xfrm>
          <a:prstGeom prst="rect">
            <a:avLst/>
          </a:prstGeom>
          <a:solidFill>
            <a:srgbClr val="F2F2F2"/>
          </a:solidFill>
          <a:ln/>
        </p:spPr>
      </p:sp>
      <p:sp>
        <p:nvSpPr>
          <p:cNvPr id="5" name="Text 3"/>
          <p:cNvSpPr/>
          <p:nvPr/>
        </p:nvSpPr>
        <p:spPr>
          <a:xfrm>
            <a:off x="1216152" y="15544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01   Introduction</a:t>
            </a:r>
            <a:endParaRPr lang="en-US" sz="1400" dirty="0"/>
          </a:p>
        </p:txBody>
      </p:sp>
      <p:sp>
        <p:nvSpPr>
          <p:cNvPr id="6" name="Text 4"/>
          <p:cNvSpPr/>
          <p:nvPr/>
        </p:nvSpPr>
        <p:spPr>
          <a:xfrm>
            <a:off x="10198303" y="15544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3</a:t>
            </a:r>
            <a:endParaRPr lang="en-US" sz="1300" dirty="0"/>
          </a:p>
        </p:txBody>
      </p:sp>
      <p:sp>
        <p:nvSpPr>
          <p:cNvPr id="7" name="Text 5"/>
          <p:cNvSpPr/>
          <p:nvPr/>
        </p:nvSpPr>
        <p:spPr>
          <a:xfrm>
            <a:off x="1216152" y="21259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02   Étude préliminaire</a:t>
            </a:r>
            <a:endParaRPr lang="en-US" sz="1400" dirty="0"/>
          </a:p>
        </p:txBody>
      </p:sp>
      <p:sp>
        <p:nvSpPr>
          <p:cNvPr id="8" name="Text 6"/>
          <p:cNvSpPr/>
          <p:nvPr/>
        </p:nvSpPr>
        <p:spPr>
          <a:xfrm>
            <a:off x="10198303" y="21259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6</a:t>
            </a:r>
            <a:endParaRPr lang="en-US" sz="1300" dirty="0"/>
          </a:p>
        </p:txBody>
      </p:sp>
      <p:sp>
        <p:nvSpPr>
          <p:cNvPr id="9" name="Shape 7"/>
          <p:cNvSpPr/>
          <p:nvPr/>
        </p:nvSpPr>
        <p:spPr>
          <a:xfrm>
            <a:off x="1033272" y="2125980"/>
            <a:ext cx="10125151" cy="0"/>
          </a:xfrm>
          <a:prstGeom prst="line">
            <a:avLst/>
          </a:prstGeom>
          <a:noFill/>
          <a:ln w="9525">
            <a:solidFill>
              <a:srgbClr val="D8D8D8"/>
            </a:solidFill>
            <a:prstDash val="solid"/>
          </a:ln>
        </p:spPr>
      </p:sp>
      <p:sp>
        <p:nvSpPr>
          <p:cNvPr id="10" name="Text 8"/>
          <p:cNvSpPr/>
          <p:nvPr/>
        </p:nvSpPr>
        <p:spPr>
          <a:xfrm>
            <a:off x="1216152" y="26974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03   Problématique &amp; solution proposée</a:t>
            </a:r>
            <a:endParaRPr lang="en-US" sz="1400" dirty="0"/>
          </a:p>
        </p:txBody>
      </p:sp>
      <p:sp>
        <p:nvSpPr>
          <p:cNvPr id="11" name="Text 9"/>
          <p:cNvSpPr/>
          <p:nvPr/>
        </p:nvSpPr>
        <p:spPr>
          <a:xfrm>
            <a:off x="10198303" y="26974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9</a:t>
            </a:r>
            <a:endParaRPr lang="en-US" sz="1300" dirty="0"/>
          </a:p>
        </p:txBody>
      </p:sp>
      <p:sp>
        <p:nvSpPr>
          <p:cNvPr id="12" name="Shape 10"/>
          <p:cNvSpPr/>
          <p:nvPr/>
        </p:nvSpPr>
        <p:spPr>
          <a:xfrm>
            <a:off x="1033272" y="2697480"/>
            <a:ext cx="10125151" cy="0"/>
          </a:xfrm>
          <a:prstGeom prst="line">
            <a:avLst/>
          </a:prstGeom>
          <a:noFill/>
          <a:ln w="9525">
            <a:solidFill>
              <a:srgbClr val="D8D8D8"/>
            </a:solidFill>
            <a:prstDash val="solid"/>
          </a:ln>
        </p:spPr>
      </p:sp>
      <p:sp>
        <p:nvSpPr>
          <p:cNvPr id="13" name="Text 11"/>
          <p:cNvSpPr/>
          <p:nvPr/>
        </p:nvSpPr>
        <p:spPr>
          <a:xfrm>
            <a:off x="1216152" y="32689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04   Méthodologie de travail</a:t>
            </a:r>
            <a:endParaRPr lang="en-US" sz="1400" dirty="0"/>
          </a:p>
        </p:txBody>
      </p:sp>
      <p:sp>
        <p:nvSpPr>
          <p:cNvPr id="14" name="Text 12"/>
          <p:cNvSpPr/>
          <p:nvPr/>
        </p:nvSpPr>
        <p:spPr>
          <a:xfrm>
            <a:off x="10198303" y="32689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12</a:t>
            </a:r>
            <a:endParaRPr lang="en-US" sz="1300" dirty="0"/>
          </a:p>
        </p:txBody>
      </p:sp>
      <p:sp>
        <p:nvSpPr>
          <p:cNvPr id="15" name="Shape 13"/>
          <p:cNvSpPr/>
          <p:nvPr/>
        </p:nvSpPr>
        <p:spPr>
          <a:xfrm>
            <a:off x="1033272" y="3268980"/>
            <a:ext cx="10125151" cy="0"/>
          </a:xfrm>
          <a:prstGeom prst="line">
            <a:avLst/>
          </a:prstGeom>
          <a:noFill/>
          <a:ln w="9525">
            <a:solidFill>
              <a:srgbClr val="D8D8D8"/>
            </a:solidFill>
            <a:prstDash val="solid"/>
          </a:ln>
        </p:spPr>
      </p:sp>
      <p:sp>
        <p:nvSpPr>
          <p:cNvPr id="16" name="Text 14"/>
          <p:cNvSpPr/>
          <p:nvPr/>
        </p:nvSpPr>
        <p:spPr>
          <a:xfrm>
            <a:off x="1216152" y="38404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05   Besoins spécifiques</a:t>
            </a:r>
            <a:endParaRPr lang="en-US" sz="1400" dirty="0"/>
          </a:p>
        </p:txBody>
      </p:sp>
      <p:sp>
        <p:nvSpPr>
          <p:cNvPr id="17" name="Text 15"/>
          <p:cNvSpPr/>
          <p:nvPr/>
        </p:nvSpPr>
        <p:spPr>
          <a:xfrm>
            <a:off x="10198303" y="38404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14</a:t>
            </a:r>
            <a:endParaRPr lang="en-US" sz="1300" dirty="0"/>
          </a:p>
        </p:txBody>
      </p:sp>
      <p:sp>
        <p:nvSpPr>
          <p:cNvPr id="18" name="Shape 16"/>
          <p:cNvSpPr/>
          <p:nvPr/>
        </p:nvSpPr>
        <p:spPr>
          <a:xfrm>
            <a:off x="1033272" y="3840480"/>
            <a:ext cx="10125151" cy="0"/>
          </a:xfrm>
          <a:prstGeom prst="line">
            <a:avLst/>
          </a:prstGeom>
          <a:noFill/>
          <a:ln w="9525">
            <a:solidFill>
              <a:srgbClr val="D8D8D8"/>
            </a:solidFill>
            <a:prstDash val="solid"/>
          </a:ln>
        </p:spPr>
      </p:sp>
      <p:sp>
        <p:nvSpPr>
          <p:cNvPr id="19" name="Text 17"/>
          <p:cNvSpPr/>
          <p:nvPr/>
        </p:nvSpPr>
        <p:spPr>
          <a:xfrm>
            <a:off x="1216152" y="44119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06   Conception &amp; architecture</a:t>
            </a:r>
            <a:endParaRPr lang="en-US" sz="1400" dirty="0"/>
          </a:p>
        </p:txBody>
      </p:sp>
      <p:sp>
        <p:nvSpPr>
          <p:cNvPr id="20" name="Text 18"/>
          <p:cNvSpPr/>
          <p:nvPr/>
        </p:nvSpPr>
        <p:spPr>
          <a:xfrm>
            <a:off x="10198303" y="44119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17</a:t>
            </a:r>
            <a:endParaRPr lang="en-US" sz="1300" dirty="0"/>
          </a:p>
        </p:txBody>
      </p:sp>
      <p:sp>
        <p:nvSpPr>
          <p:cNvPr id="21" name="Shape 19"/>
          <p:cNvSpPr/>
          <p:nvPr/>
        </p:nvSpPr>
        <p:spPr>
          <a:xfrm>
            <a:off x="1033272" y="4411980"/>
            <a:ext cx="10125151" cy="0"/>
          </a:xfrm>
          <a:prstGeom prst="line">
            <a:avLst/>
          </a:prstGeom>
          <a:noFill/>
          <a:ln w="9525">
            <a:solidFill>
              <a:srgbClr val="D8D8D8"/>
            </a:solidFill>
            <a:prstDash val="solid"/>
          </a:ln>
        </p:spPr>
      </p:sp>
      <p:sp>
        <p:nvSpPr>
          <p:cNvPr id="22" name="Text 20"/>
          <p:cNvSpPr/>
          <p:nvPr/>
        </p:nvSpPr>
        <p:spPr>
          <a:xfrm>
            <a:off x="1216152" y="49834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07   Réalisation &amp; démo</a:t>
            </a:r>
            <a:endParaRPr lang="en-US" sz="1400" dirty="0"/>
          </a:p>
        </p:txBody>
      </p:sp>
      <p:sp>
        <p:nvSpPr>
          <p:cNvPr id="23" name="Text 21"/>
          <p:cNvSpPr/>
          <p:nvPr/>
        </p:nvSpPr>
        <p:spPr>
          <a:xfrm>
            <a:off x="10198303" y="49834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25</a:t>
            </a:r>
            <a:endParaRPr lang="en-US" sz="1300" dirty="0"/>
          </a:p>
        </p:txBody>
      </p:sp>
      <p:sp>
        <p:nvSpPr>
          <p:cNvPr id="24" name="Shape 22"/>
          <p:cNvSpPr/>
          <p:nvPr/>
        </p:nvSpPr>
        <p:spPr>
          <a:xfrm>
            <a:off x="1033272" y="4983480"/>
            <a:ext cx="10125151" cy="0"/>
          </a:xfrm>
          <a:prstGeom prst="line">
            <a:avLst/>
          </a:prstGeom>
          <a:noFill/>
          <a:ln w="9525">
            <a:solidFill>
              <a:srgbClr val="D8D8D8"/>
            </a:solidFill>
            <a:prstDash val="solid"/>
          </a:ln>
        </p:spPr>
      </p:sp>
      <p:sp>
        <p:nvSpPr>
          <p:cNvPr id="25" name="Text 23"/>
          <p:cNvSpPr/>
          <p:nvPr/>
        </p:nvSpPr>
        <p:spPr>
          <a:xfrm>
            <a:off x="1216152" y="5554980"/>
            <a:ext cx="8570671" cy="571500"/>
          </a:xfrm>
          <a:prstGeom prst="rect">
            <a:avLst/>
          </a:prstGeom>
          <a:noFill/>
          <a:ln/>
        </p:spPr>
        <p:txBody>
          <a:bodyPr wrap="square" lIns="0" tIns="0" rIns="0" bIns="0" rtlCol="0" anchor="ctr"/>
          <a:lstStyle/>
          <a:p>
            <a:pPr indent="0" marL="0">
              <a:buNone/>
            </a:pPr>
            <a:r>
              <a:rPr lang="en-US" sz="1400" dirty="0">
                <a:solidFill>
                  <a:srgbClr val="1A1A1A"/>
                </a:solidFill>
                <a:latin typeface="Arial" pitchFamily="34" charset="0"/>
                <a:ea typeface="Arial" pitchFamily="34" charset="-122"/>
                <a:cs typeface="Arial" pitchFamily="34" charset="-120"/>
              </a:rPr>
              <a:t>08   Conclusion &amp; perspectives</a:t>
            </a:r>
            <a:endParaRPr lang="en-US" sz="1400" dirty="0"/>
          </a:p>
        </p:txBody>
      </p:sp>
      <p:sp>
        <p:nvSpPr>
          <p:cNvPr id="26" name="Text 24"/>
          <p:cNvSpPr/>
          <p:nvPr/>
        </p:nvSpPr>
        <p:spPr>
          <a:xfrm>
            <a:off x="10198303" y="5554980"/>
            <a:ext cx="777240" cy="571500"/>
          </a:xfrm>
          <a:prstGeom prst="rect">
            <a:avLst/>
          </a:prstGeom>
          <a:noFill/>
          <a:ln/>
        </p:spPr>
        <p:txBody>
          <a:bodyPr wrap="square" lIns="0" tIns="0" rIns="0" bIns="0" rtlCol="0" anchor="ctr"/>
          <a:lstStyle/>
          <a:p>
            <a:pPr algn="r" indent="0" marL="0">
              <a:buNone/>
            </a:pPr>
            <a:r>
              <a:rPr lang="en-US" sz="1300" dirty="0">
                <a:solidFill>
                  <a:srgbClr val="4A4A4A"/>
                </a:solidFill>
                <a:latin typeface="Arial" pitchFamily="34" charset="0"/>
                <a:ea typeface="Arial" pitchFamily="34" charset="-122"/>
                <a:cs typeface="Arial" pitchFamily="34" charset="-120"/>
              </a:rPr>
              <a:t>29</a:t>
            </a:r>
            <a:endParaRPr lang="en-US" sz="1300" dirty="0"/>
          </a:p>
        </p:txBody>
      </p:sp>
      <p:sp>
        <p:nvSpPr>
          <p:cNvPr id="27" name="Shape 25"/>
          <p:cNvSpPr/>
          <p:nvPr/>
        </p:nvSpPr>
        <p:spPr>
          <a:xfrm>
            <a:off x="1033272" y="5554980"/>
            <a:ext cx="10125151" cy="0"/>
          </a:xfrm>
          <a:prstGeom prst="line">
            <a:avLst/>
          </a:prstGeom>
          <a:noFill/>
          <a:ln w="9525">
            <a:solidFill>
              <a:srgbClr val="D8D8D8"/>
            </a:solidFill>
            <a:prstDash val="solid"/>
          </a:ln>
        </p:spPr>
      </p:sp>
      <p:sp>
        <p:nvSpPr>
          <p:cNvPr id="28" name="Text 26"/>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01</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Introduction</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Cadre du projet et présentation de l'organisme d'accueil</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1002975" y="0"/>
            <a:ext cx="1188720" cy="1188720"/>
          </a:xfrm>
          <a:prstGeom prst="rect">
            <a:avLst/>
          </a:prstGeom>
          <a:solidFill>
            <a:srgbClr val="30459E"/>
          </a:solidFill>
          <a:ln/>
        </p:spPr>
      </p:sp>
      <p:sp>
        <p:nvSpPr>
          <p:cNvPr id="3" name="Text 1"/>
          <p:cNvSpPr/>
          <p:nvPr/>
        </p:nvSpPr>
        <p:spPr>
          <a:xfrm>
            <a:off x="822960" y="45720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1.1</a:t>
            </a:r>
            <a:endParaRPr lang="en-US" sz="1300" dirty="0"/>
          </a:p>
        </p:txBody>
      </p:sp>
      <p:sp>
        <p:nvSpPr>
          <p:cNvPr id="4" name="Text 2"/>
          <p:cNvSpPr/>
          <p:nvPr/>
        </p:nvSpPr>
        <p:spPr>
          <a:xfrm>
            <a:off x="822960" y="777240"/>
            <a:ext cx="9875520" cy="82296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Introduction générale</a:t>
            </a:r>
            <a:endParaRPr lang="en-US" sz="3000" dirty="0"/>
          </a:p>
        </p:txBody>
      </p:sp>
      <p:sp>
        <p:nvSpPr>
          <p:cNvPr id="5" name="Text 3"/>
          <p:cNvSpPr/>
          <p:nvPr/>
        </p:nvSpPr>
        <p:spPr>
          <a:xfrm>
            <a:off x="822960" y="1691640"/>
            <a:ext cx="10424160" cy="1188720"/>
          </a:xfrm>
          <a:prstGeom prst="rect">
            <a:avLst/>
          </a:prstGeom>
          <a:noFill/>
          <a:ln/>
        </p:spPr>
        <p:txBody>
          <a:bodyPr wrap="square" lIns="0" tIns="0" rIns="0" bIns="0" rtlCol="0" anchor="ctr"/>
          <a:lstStyle/>
          <a:p>
            <a:pPr indent="0" marL="0">
              <a:lnSpc>
                <a:spcPts val="1800"/>
              </a:lnSpc>
              <a:buNone/>
            </a:pPr>
            <a:r>
              <a:rPr lang="en-US" sz="1350" dirty="0">
                <a:solidFill>
                  <a:srgbClr val="1A1A1A"/>
                </a:solidFill>
                <a:latin typeface="Arial" pitchFamily="34" charset="0"/>
                <a:ea typeface="Arial" pitchFamily="34" charset="-122"/>
                <a:cs typeface="Arial" pitchFamily="34" charset="-120"/>
              </a:rPr>
              <a:t>Ce document présente le travail réalisé dans le cadre du Projet de Fin d'Études, conclusion du cursus d'ingénieur en Génie Logiciel, effectué au sein de l'entreprise 3LM Solutions. Les centres d'appels sont au cœur de l'activité de télémarketing : leur performance dépend directement de la qualité des outils utilisés pour gérer les contacts, planifier les rendez-vous et suivre la qualité des appels. 3LM Solutions utilisait jusque-là des outils dispersés et peu adaptés aux spécificités de son métier, ce qui a motivé la conception d'une plateforme CRM sur mesure — objet de ce projet.</a:t>
            </a:r>
            <a:endParaRPr lang="en-US" sz="1350" dirty="0"/>
          </a:p>
        </p:txBody>
      </p:sp>
      <p:sp>
        <p:nvSpPr>
          <p:cNvPr id="6" name="Text 4"/>
          <p:cNvSpPr/>
          <p:nvPr/>
        </p:nvSpPr>
        <p:spPr>
          <a:xfrm>
            <a:off x="822960" y="3017520"/>
            <a:ext cx="10424160" cy="320040"/>
          </a:xfrm>
          <a:prstGeom prst="rect">
            <a:avLst/>
          </a:prstGeom>
          <a:noFill/>
          <a:ln/>
        </p:spPr>
        <p:txBody>
          <a:bodyPr wrap="square" lIns="0" tIns="0" rIns="0" bIns="0" rtlCol="0" anchor="ctr"/>
          <a:lstStyle/>
          <a:p>
            <a:pPr indent="0" marL="0">
              <a:buNone/>
            </a:pPr>
            <a:r>
              <a:rPr lang="en-US" sz="1400" b="1" dirty="0">
                <a:solidFill>
                  <a:srgbClr val="30459E"/>
                </a:solidFill>
                <a:latin typeface="Arial" pitchFamily="34" charset="0"/>
                <a:ea typeface="Arial" pitchFamily="34" charset="-122"/>
                <a:cs typeface="Arial" pitchFamily="34" charset="-120"/>
              </a:rPr>
              <a:t>Objectif de ce document</a:t>
            </a:r>
            <a:endParaRPr lang="en-US" sz="1400" dirty="0"/>
          </a:p>
        </p:txBody>
      </p:sp>
      <p:sp>
        <p:nvSpPr>
          <p:cNvPr id="7" name="Text 5"/>
          <p:cNvSpPr/>
          <p:nvPr/>
        </p:nvSpPr>
        <p:spPr>
          <a:xfrm>
            <a:off x="822960" y="3364992"/>
            <a:ext cx="10424160" cy="365760"/>
          </a:xfrm>
          <a:prstGeom prst="rect">
            <a:avLst/>
          </a:prstGeom>
          <a:noFill/>
          <a:ln/>
        </p:spPr>
        <p:txBody>
          <a:bodyPr wrap="square" lIns="0" tIns="0" rIns="0" bIns="0" rtlCol="0" anchor="ctr"/>
          <a:lstStyle/>
          <a:p>
            <a:pPr marL="177800" indent="-177800">
              <a:buSzPct val="100000"/>
              <a:buChar char="•"/>
            </a:pPr>
            <a:r>
              <a:rPr lang="en-US" sz="1300" dirty="0">
                <a:solidFill>
                  <a:srgbClr val="1A1A1A"/>
                </a:solidFill>
                <a:latin typeface="Arial" pitchFamily="34" charset="0"/>
                <a:ea typeface="Arial" pitchFamily="34" charset="-122"/>
                <a:cs typeface="Arial" pitchFamily="34" charset="-120"/>
              </a:rPr>
              <a:t>Présenter la démarche complète : de l'étude du besoin jusqu'à la mise en production d'une plateforme CRM fonctionnelle.</a:t>
            </a:r>
            <a:endParaRPr lang="en-US" sz="1300" dirty="0"/>
          </a:p>
        </p:txBody>
      </p:sp>
      <p:sp>
        <p:nvSpPr>
          <p:cNvPr id="8" name="Text 6"/>
          <p:cNvSpPr/>
          <p:nvPr/>
        </p:nvSpPr>
        <p:spPr>
          <a:xfrm>
            <a:off x="822960" y="3730752"/>
            <a:ext cx="10424160" cy="365760"/>
          </a:xfrm>
          <a:prstGeom prst="rect">
            <a:avLst/>
          </a:prstGeom>
          <a:noFill/>
          <a:ln/>
        </p:spPr>
        <p:txBody>
          <a:bodyPr wrap="square" lIns="0" tIns="0" rIns="0" bIns="0" rtlCol="0" anchor="ctr"/>
          <a:lstStyle/>
          <a:p>
            <a:pPr marL="177800" indent="-177800">
              <a:buSzPct val="100000"/>
              <a:buChar char="•"/>
            </a:pPr>
            <a:r>
              <a:rPr lang="en-US" sz="1300" dirty="0">
                <a:solidFill>
                  <a:srgbClr val="1A1A1A"/>
                </a:solidFill>
                <a:latin typeface="Arial" pitchFamily="34" charset="0"/>
                <a:ea typeface="Arial" pitchFamily="34" charset="-122"/>
                <a:cs typeface="Arial" pitchFamily="34" charset="-120"/>
              </a:rPr>
              <a:t>Justifier les choix méthodologiques, techniques et architecturaux effectués tout au long du projet.</a:t>
            </a:r>
            <a:endParaRPr lang="en-US" sz="1300" dirty="0"/>
          </a:p>
        </p:txBody>
      </p:sp>
      <p:sp>
        <p:nvSpPr>
          <p:cNvPr id="9" name="Text 7"/>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4.</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pic>
        <p:nvPicPr>
          <p:cNvPr id="2" name="Image 0" descr="/tmp/pfe_canva/assets/texture_blue.png">    </p:cNvPr>
          <p:cNvPicPr>
            <a:picLocks noChangeAspect="1"/>
          </p:cNvPicPr>
          <p:nvPr/>
        </p:nvPicPr>
        <p:blipFill>
          <a:blip r:embed="rId1"/>
          <a:srcRect l="0" r="0" t="0" b="0"/>
          <a:stretch/>
        </p:blipFill>
        <p:spPr>
          <a:xfrm>
            <a:off x="0" y="0"/>
            <a:ext cx="4114800" cy="6858000"/>
          </a:xfrm>
          <a:prstGeom prst="rect">
            <a:avLst/>
          </a:prstGeom>
        </p:spPr>
      </p:pic>
      <p:sp>
        <p:nvSpPr>
          <p:cNvPr id="3" name="Shape 0"/>
          <p:cNvSpPr/>
          <p:nvPr/>
        </p:nvSpPr>
        <p:spPr>
          <a:xfrm>
            <a:off x="914400" y="1005840"/>
            <a:ext cx="0" cy="1554480"/>
          </a:xfrm>
          <a:prstGeom prst="line">
            <a:avLst/>
          </a:prstGeom>
          <a:noFill/>
          <a:ln w="25400">
            <a:solidFill>
              <a:srgbClr val="FFFFFF"/>
            </a:solidFill>
            <a:prstDash val="solid"/>
          </a:ln>
        </p:spPr>
      </p:sp>
      <p:sp>
        <p:nvSpPr>
          <p:cNvPr id="4" name="Text 1"/>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5" name="Text 2"/>
          <p:cNvSpPr/>
          <p:nvPr/>
        </p:nvSpPr>
        <p:spPr>
          <a:xfrm>
            <a:off x="4800600" y="50292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1.2</a:t>
            </a:r>
            <a:endParaRPr lang="en-US" sz="1300" dirty="0"/>
          </a:p>
        </p:txBody>
      </p:sp>
      <p:sp>
        <p:nvSpPr>
          <p:cNvPr id="6" name="Text 3"/>
          <p:cNvSpPr/>
          <p:nvPr/>
        </p:nvSpPr>
        <p:spPr>
          <a:xfrm>
            <a:off x="4800600" y="822960"/>
            <a:ext cx="6842455" cy="1188720"/>
          </a:xfrm>
          <a:prstGeom prst="rect">
            <a:avLst/>
          </a:prstGeom>
          <a:noFill/>
          <a:ln/>
        </p:spPr>
        <p:txBody>
          <a:bodyPr wrap="square" lIns="0" tIns="0" rIns="0" bIns="0" rtlCol="0" anchor="ctr"/>
          <a:lstStyle/>
          <a:p>
            <a:pPr indent="0" marL="0">
              <a:lnSpc>
                <a:spcPts val="3300"/>
              </a:lnSpc>
              <a:buNone/>
            </a:pPr>
            <a:r>
              <a:rPr lang="en-US" sz="3000" b="1" dirty="0">
                <a:solidFill>
                  <a:srgbClr val="111111"/>
                </a:solidFill>
                <a:latin typeface="Arial" pitchFamily="34" charset="0"/>
                <a:ea typeface="Arial" pitchFamily="34" charset="-122"/>
                <a:cs typeface="Arial" pitchFamily="34" charset="-120"/>
              </a:rPr>
              <a:t>Organisme d'accueil</a:t>
            </a:r>
            <a:endParaRPr lang="en-US" sz="3000" dirty="0"/>
          </a:p>
        </p:txBody>
      </p:sp>
      <p:sp>
        <p:nvSpPr>
          <p:cNvPr id="7" name="Text 4"/>
          <p:cNvSpPr/>
          <p:nvPr/>
        </p:nvSpPr>
        <p:spPr>
          <a:xfrm>
            <a:off x="4800600" y="2103120"/>
            <a:ext cx="6842455" cy="292608"/>
          </a:xfrm>
          <a:prstGeom prst="rect">
            <a:avLst/>
          </a:prstGeom>
          <a:noFill/>
          <a:ln/>
        </p:spPr>
        <p:txBody>
          <a:bodyPr wrap="square" lIns="0" tIns="0" rIns="0" bIns="0" rtlCol="0" anchor="t"/>
          <a:lstStyle/>
          <a:p>
            <a:pPr indent="0" marL="0">
              <a:buNone/>
            </a:pPr>
            <a:r>
              <a:rPr lang="en-US" sz="1350" b="1" dirty="0">
                <a:solidFill>
                  <a:srgbClr val="30459E"/>
                </a:solidFill>
                <a:latin typeface="Arial" pitchFamily="34" charset="0"/>
                <a:ea typeface="Arial" pitchFamily="34" charset="-122"/>
                <a:cs typeface="Arial" pitchFamily="34" charset="-120"/>
              </a:rPr>
              <a:t>Date de création</a:t>
            </a:r>
            <a:endParaRPr lang="en-US" sz="1350" dirty="0"/>
          </a:p>
        </p:txBody>
      </p:sp>
      <p:sp>
        <p:nvSpPr>
          <p:cNvPr id="8" name="Text 5"/>
          <p:cNvSpPr/>
          <p:nvPr/>
        </p:nvSpPr>
        <p:spPr>
          <a:xfrm>
            <a:off x="4800600" y="2468880"/>
            <a:ext cx="6842455" cy="411480"/>
          </a:xfrm>
          <a:prstGeom prst="rect">
            <a:avLst/>
          </a:prstGeom>
          <a:noFill/>
          <a:ln/>
        </p:spPr>
        <p:txBody>
          <a:bodyPr wrap="square" lIns="0" tIns="0" rIns="0" bIns="0" rtlCol="0" anchor="t"/>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Fondée en 2025.</a:t>
            </a:r>
            <a:endParaRPr lang="en-US" sz="1250" dirty="0"/>
          </a:p>
        </p:txBody>
      </p:sp>
      <p:sp>
        <p:nvSpPr>
          <p:cNvPr id="9" name="Text 6"/>
          <p:cNvSpPr/>
          <p:nvPr/>
        </p:nvSpPr>
        <p:spPr>
          <a:xfrm>
            <a:off x="4800600" y="3081528"/>
            <a:ext cx="6842455" cy="292608"/>
          </a:xfrm>
          <a:prstGeom prst="rect">
            <a:avLst/>
          </a:prstGeom>
          <a:noFill/>
          <a:ln/>
        </p:spPr>
        <p:txBody>
          <a:bodyPr wrap="square" lIns="0" tIns="0" rIns="0" bIns="0" rtlCol="0" anchor="t"/>
          <a:lstStyle/>
          <a:p>
            <a:pPr indent="0" marL="0">
              <a:buNone/>
            </a:pPr>
            <a:r>
              <a:rPr lang="en-US" sz="1350" b="1" dirty="0">
                <a:solidFill>
                  <a:srgbClr val="30459E"/>
                </a:solidFill>
                <a:latin typeface="Arial" pitchFamily="34" charset="0"/>
                <a:ea typeface="Arial" pitchFamily="34" charset="-122"/>
                <a:cs typeface="Arial" pitchFamily="34" charset="-120"/>
              </a:rPr>
              <a:t>Domaine d’activité</a:t>
            </a:r>
            <a:endParaRPr lang="en-US" sz="1350" dirty="0"/>
          </a:p>
        </p:txBody>
      </p:sp>
      <p:sp>
        <p:nvSpPr>
          <p:cNvPr id="10" name="Text 7"/>
          <p:cNvSpPr/>
          <p:nvPr/>
        </p:nvSpPr>
        <p:spPr>
          <a:xfrm>
            <a:off x="4800600" y="3447288"/>
            <a:ext cx="6842455" cy="411480"/>
          </a:xfrm>
          <a:prstGeom prst="rect">
            <a:avLst/>
          </a:prstGeom>
          <a:noFill/>
          <a:ln/>
        </p:spPr>
        <p:txBody>
          <a:bodyPr wrap="square" lIns="0" tIns="0" rIns="0" bIns="0" rtlCol="0" anchor="t"/>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Télémarketing · Prise de RDV · Confirmation RDV · Suivi qualité.</a:t>
            </a:r>
            <a:endParaRPr lang="en-US" sz="1250" dirty="0"/>
          </a:p>
        </p:txBody>
      </p:sp>
      <p:sp>
        <p:nvSpPr>
          <p:cNvPr id="11" name="Text 8"/>
          <p:cNvSpPr/>
          <p:nvPr/>
        </p:nvSpPr>
        <p:spPr>
          <a:xfrm>
            <a:off x="4800600" y="4059936"/>
            <a:ext cx="6842455" cy="292608"/>
          </a:xfrm>
          <a:prstGeom prst="rect">
            <a:avLst/>
          </a:prstGeom>
          <a:noFill/>
          <a:ln/>
        </p:spPr>
        <p:txBody>
          <a:bodyPr wrap="square" lIns="0" tIns="0" rIns="0" bIns="0" rtlCol="0" anchor="t"/>
          <a:lstStyle/>
          <a:p>
            <a:pPr indent="0" marL="0">
              <a:buNone/>
            </a:pPr>
            <a:r>
              <a:rPr lang="en-US" sz="1350" b="1" dirty="0">
                <a:solidFill>
                  <a:srgbClr val="30459E"/>
                </a:solidFill>
                <a:latin typeface="Arial" pitchFamily="34" charset="0"/>
                <a:ea typeface="Arial" pitchFamily="34" charset="-122"/>
                <a:cs typeface="Arial" pitchFamily="34" charset="-120"/>
              </a:rPr>
              <a:t>Cœur de métier</a:t>
            </a:r>
            <a:endParaRPr lang="en-US" sz="1350" dirty="0"/>
          </a:p>
        </p:txBody>
      </p:sp>
      <p:sp>
        <p:nvSpPr>
          <p:cNvPr id="12" name="Text 9"/>
          <p:cNvSpPr/>
          <p:nvPr/>
        </p:nvSpPr>
        <p:spPr>
          <a:xfrm>
            <a:off x="4800600" y="4425696"/>
            <a:ext cx="6842455" cy="411480"/>
          </a:xfrm>
          <a:prstGeom prst="rect">
            <a:avLst/>
          </a:prstGeom>
          <a:noFill/>
          <a:ln/>
        </p:spPr>
        <p:txBody>
          <a:bodyPr wrap="square" lIns="0" tIns="0" rIns="0" bIns="0" rtlCol="0" anchor="t"/>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Spécialisée dans les solutions IT et services numériques.</a:t>
            </a:r>
            <a:endParaRPr lang="en-US" sz="1250" dirty="0"/>
          </a:p>
        </p:txBody>
      </p:sp>
      <p:sp>
        <p:nvSpPr>
          <p:cNvPr id="13" name="Text 10"/>
          <p:cNvSpPr/>
          <p:nvPr/>
        </p:nvSpPr>
        <p:spPr>
          <a:xfrm>
            <a:off x="4800600" y="5038344"/>
            <a:ext cx="6842455" cy="292608"/>
          </a:xfrm>
          <a:prstGeom prst="rect">
            <a:avLst/>
          </a:prstGeom>
          <a:noFill/>
          <a:ln/>
        </p:spPr>
        <p:txBody>
          <a:bodyPr wrap="square" lIns="0" tIns="0" rIns="0" bIns="0" rtlCol="0" anchor="t"/>
          <a:lstStyle/>
          <a:p>
            <a:pPr indent="0" marL="0">
              <a:buNone/>
            </a:pPr>
            <a:r>
              <a:rPr lang="en-US" sz="1350" b="1" dirty="0">
                <a:solidFill>
                  <a:srgbClr val="30459E"/>
                </a:solidFill>
                <a:latin typeface="Arial" pitchFamily="34" charset="0"/>
                <a:ea typeface="Arial" pitchFamily="34" charset="-122"/>
                <a:cs typeface="Arial" pitchFamily="34" charset="-120"/>
              </a:rPr>
              <a:t>Localisation</a:t>
            </a:r>
            <a:endParaRPr lang="en-US" sz="1350" dirty="0"/>
          </a:p>
        </p:txBody>
      </p:sp>
      <p:sp>
        <p:nvSpPr>
          <p:cNvPr id="14" name="Text 11"/>
          <p:cNvSpPr/>
          <p:nvPr/>
        </p:nvSpPr>
        <p:spPr>
          <a:xfrm>
            <a:off x="4800600" y="5404104"/>
            <a:ext cx="6842455" cy="274320"/>
          </a:xfrm>
          <a:prstGeom prst="rect">
            <a:avLst/>
          </a:prstGeom>
          <a:noFill/>
          <a:ln/>
        </p:spPr>
        <p:txBody>
          <a:bodyPr wrap="square" lIns="0" tIns="0" rIns="0" bIns="0" rtlCol="0" anchor="t"/>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Ariana / Bizerte, Tunisie.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02</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Étude préliminaire</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Du constat de terrain à l'analyse des solutions existantes</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45720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2.1</a:t>
            </a:r>
            <a:endParaRPr lang="en-US" sz="1300" dirty="0"/>
          </a:p>
        </p:txBody>
      </p:sp>
      <p:sp>
        <p:nvSpPr>
          <p:cNvPr id="3" name="Text 1"/>
          <p:cNvSpPr/>
          <p:nvPr/>
        </p:nvSpPr>
        <p:spPr>
          <a:xfrm>
            <a:off x="822960" y="777240"/>
            <a:ext cx="9875520" cy="64008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Contexte &amp; constat</a:t>
            </a:r>
            <a:endParaRPr lang="en-US" sz="2800" dirty="0"/>
          </a:p>
        </p:txBody>
      </p:sp>
      <p:sp>
        <p:nvSpPr>
          <p:cNvPr id="4" name="Text 2"/>
          <p:cNvSpPr/>
          <p:nvPr/>
        </p:nvSpPr>
        <p:spPr>
          <a:xfrm>
            <a:off x="822960" y="1508760"/>
            <a:ext cx="10424160" cy="548640"/>
          </a:xfrm>
          <a:prstGeom prst="rect">
            <a:avLst/>
          </a:prstGeom>
          <a:noFill/>
          <a:ln/>
        </p:spPr>
        <p:txBody>
          <a:bodyPr wrap="square" lIns="0" tIns="0" rIns="0" bIns="0" rtlCol="0" anchor="ctr"/>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À mesure que 3LM Solutions développe son portefeuille de clients, le volume d'appels, de contacts et de rendez-vous à gérer augmente rapidement. Les équipes (agents, confirmatrices, service qualité, service technique) travaillent aujourd'hui avec des outils dispersés (tableurs, échanges manuels) mal adaptés à ce volume.</a:t>
            </a:r>
            <a:endParaRPr lang="en-US" sz="1250" dirty="0"/>
          </a:p>
        </p:txBody>
      </p:sp>
      <p:sp>
        <p:nvSpPr>
          <p:cNvPr id="5" name="Shape 3"/>
          <p:cNvSpPr/>
          <p:nvPr/>
        </p:nvSpPr>
        <p:spPr>
          <a:xfrm>
            <a:off x="822960" y="2194560"/>
            <a:ext cx="566928" cy="566928"/>
          </a:xfrm>
          <a:prstGeom prst="roundRect">
            <a:avLst>
              <a:gd name="adj" fmla="val 12903"/>
            </a:avLst>
          </a:prstGeom>
          <a:solidFill>
            <a:srgbClr val="30459E"/>
          </a:solidFill>
          <a:ln/>
        </p:spPr>
      </p:sp>
      <p:sp>
        <p:nvSpPr>
          <p:cNvPr id="6" name="Text 4"/>
          <p:cNvSpPr/>
          <p:nvPr/>
        </p:nvSpPr>
        <p:spPr>
          <a:xfrm>
            <a:off x="822960"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Shape 5"/>
          <p:cNvSpPr/>
          <p:nvPr/>
        </p:nvSpPr>
        <p:spPr>
          <a:xfrm>
            <a:off x="822960" y="2907792"/>
            <a:ext cx="457200" cy="0"/>
          </a:xfrm>
          <a:prstGeom prst="line">
            <a:avLst/>
          </a:prstGeom>
          <a:noFill/>
          <a:ln w="19050">
            <a:solidFill>
              <a:srgbClr val="30459E"/>
            </a:solidFill>
            <a:prstDash val="solid"/>
          </a:ln>
        </p:spPr>
      </p:sp>
      <p:sp>
        <p:nvSpPr>
          <p:cNvPr id="8" name="Text 6"/>
          <p:cNvSpPr/>
          <p:nvPr/>
        </p:nvSpPr>
        <p:spPr>
          <a:xfrm>
            <a:off x="822960" y="298094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Suivi des contacts dispersé</a:t>
            </a:r>
            <a:endParaRPr lang="en-US" sz="1200" dirty="0"/>
          </a:p>
        </p:txBody>
      </p:sp>
      <p:sp>
        <p:nvSpPr>
          <p:cNvPr id="9" name="Text 7"/>
          <p:cNvSpPr/>
          <p:nvPr/>
        </p:nvSpPr>
        <p:spPr>
          <a:xfrm>
            <a:off x="822960" y="3255264"/>
            <a:ext cx="3195218" cy="28803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Aucune vue unifiée du statut d'un contact ni de son historique d'appels.</a:t>
            </a:r>
            <a:endParaRPr lang="en-US" sz="1000" dirty="0"/>
          </a:p>
        </p:txBody>
      </p:sp>
      <p:sp>
        <p:nvSpPr>
          <p:cNvPr id="10" name="Shape 8"/>
          <p:cNvSpPr/>
          <p:nvPr/>
        </p:nvSpPr>
        <p:spPr>
          <a:xfrm>
            <a:off x="4429658" y="2194560"/>
            <a:ext cx="566928" cy="566928"/>
          </a:xfrm>
          <a:prstGeom prst="roundRect">
            <a:avLst>
              <a:gd name="adj" fmla="val 12903"/>
            </a:avLst>
          </a:prstGeom>
          <a:solidFill>
            <a:srgbClr val="30459E"/>
          </a:solidFill>
          <a:ln/>
        </p:spPr>
      </p:sp>
      <p:sp>
        <p:nvSpPr>
          <p:cNvPr id="11" name="Text 9"/>
          <p:cNvSpPr/>
          <p:nvPr/>
        </p:nvSpPr>
        <p:spPr>
          <a:xfrm>
            <a:off x="4429658"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Shape 10"/>
          <p:cNvSpPr/>
          <p:nvPr/>
        </p:nvSpPr>
        <p:spPr>
          <a:xfrm>
            <a:off x="4429658" y="2907792"/>
            <a:ext cx="457200" cy="0"/>
          </a:xfrm>
          <a:prstGeom prst="line">
            <a:avLst/>
          </a:prstGeom>
          <a:noFill/>
          <a:ln w="19050">
            <a:solidFill>
              <a:srgbClr val="30459E"/>
            </a:solidFill>
            <a:prstDash val="solid"/>
          </a:ln>
        </p:spPr>
      </p:sp>
      <p:sp>
        <p:nvSpPr>
          <p:cNvPr id="13" name="Text 11"/>
          <p:cNvSpPr/>
          <p:nvPr/>
        </p:nvSpPr>
        <p:spPr>
          <a:xfrm>
            <a:off x="4429658" y="298094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Agendas non centralisés</a:t>
            </a:r>
            <a:endParaRPr lang="en-US" sz="1200" dirty="0"/>
          </a:p>
        </p:txBody>
      </p:sp>
      <p:sp>
        <p:nvSpPr>
          <p:cNvPr id="14" name="Text 12"/>
          <p:cNvSpPr/>
          <p:nvPr/>
        </p:nvSpPr>
        <p:spPr>
          <a:xfrm>
            <a:off x="4429658" y="3255264"/>
            <a:ext cx="3195218" cy="28803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Les rendez-vous EBI, client et commerciaux ne sont pas synchronisés entre équipes.</a:t>
            </a:r>
            <a:endParaRPr lang="en-US" sz="1000" dirty="0"/>
          </a:p>
        </p:txBody>
      </p:sp>
      <p:sp>
        <p:nvSpPr>
          <p:cNvPr id="15" name="Shape 13"/>
          <p:cNvSpPr/>
          <p:nvPr/>
        </p:nvSpPr>
        <p:spPr>
          <a:xfrm>
            <a:off x="8036357" y="2194560"/>
            <a:ext cx="566928" cy="566928"/>
          </a:xfrm>
          <a:prstGeom prst="roundRect">
            <a:avLst>
              <a:gd name="adj" fmla="val 12903"/>
            </a:avLst>
          </a:prstGeom>
          <a:solidFill>
            <a:srgbClr val="30459E"/>
          </a:solidFill>
          <a:ln/>
        </p:spPr>
      </p:sp>
      <p:sp>
        <p:nvSpPr>
          <p:cNvPr id="16" name="Text 14"/>
          <p:cNvSpPr/>
          <p:nvPr/>
        </p:nvSpPr>
        <p:spPr>
          <a:xfrm>
            <a:off x="8036357"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Shape 15"/>
          <p:cNvSpPr/>
          <p:nvPr/>
        </p:nvSpPr>
        <p:spPr>
          <a:xfrm>
            <a:off x="8036357" y="2907792"/>
            <a:ext cx="457200" cy="0"/>
          </a:xfrm>
          <a:prstGeom prst="line">
            <a:avLst/>
          </a:prstGeom>
          <a:noFill/>
          <a:ln w="19050">
            <a:solidFill>
              <a:srgbClr val="30459E"/>
            </a:solidFill>
            <a:prstDash val="solid"/>
          </a:ln>
        </p:spPr>
      </p:sp>
      <p:sp>
        <p:nvSpPr>
          <p:cNvPr id="18" name="Text 16"/>
          <p:cNvSpPr/>
          <p:nvPr/>
        </p:nvSpPr>
        <p:spPr>
          <a:xfrm>
            <a:off x="8036357" y="298094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Qualité peu mesurée</a:t>
            </a:r>
            <a:endParaRPr lang="en-US" sz="1200" dirty="0"/>
          </a:p>
        </p:txBody>
      </p:sp>
      <p:sp>
        <p:nvSpPr>
          <p:cNvPr id="19" name="Text 17"/>
          <p:cNvSpPr/>
          <p:nvPr/>
        </p:nvSpPr>
        <p:spPr>
          <a:xfrm>
            <a:off x="8036357" y="3255264"/>
            <a:ext cx="3195218" cy="28803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Pas d'outil dédié pour évaluer les appels et objectiver la performance des agents.</a:t>
            </a:r>
            <a:endParaRPr lang="en-US" sz="1000" dirty="0"/>
          </a:p>
        </p:txBody>
      </p:sp>
      <p:sp>
        <p:nvSpPr>
          <p:cNvPr id="20" name="Text 18"/>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7.</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Étude et critique de l'existant</a:t>
            </a:r>
            <a:endParaRPr lang="en-US" sz="3000" dirty="0"/>
          </a:p>
        </p:txBody>
      </p:sp>
      <p:sp>
        <p:nvSpPr>
          <p:cNvPr id="3" name="Shape 1"/>
          <p:cNvSpPr/>
          <p:nvPr/>
        </p:nvSpPr>
        <p:spPr>
          <a:xfrm>
            <a:off x="822960" y="1554480"/>
            <a:ext cx="5112868" cy="2240280"/>
          </a:xfrm>
          <a:prstGeom prst="roundRect">
            <a:avLst>
              <a:gd name="adj" fmla="val 2449"/>
            </a:avLst>
          </a:prstGeom>
          <a:solidFill>
            <a:srgbClr val="F2F2F2"/>
          </a:solidFill>
          <a:ln/>
        </p:spPr>
      </p:sp>
      <p:sp>
        <p:nvSpPr>
          <p:cNvPr id="4" name="Text 2"/>
          <p:cNvSpPr/>
          <p:nvPr/>
        </p:nvSpPr>
        <p:spPr>
          <a:xfrm>
            <a:off x="987552" y="164592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01</a:t>
            </a:r>
            <a:endParaRPr lang="en-US" sz="1900" dirty="0"/>
          </a:p>
        </p:txBody>
      </p:sp>
      <p:sp>
        <p:nvSpPr>
          <p:cNvPr id="5" name="Text 3"/>
          <p:cNvSpPr/>
          <p:nvPr/>
        </p:nvSpPr>
        <p:spPr>
          <a:xfrm>
            <a:off x="987552" y="199339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Salesforce CRM</a:t>
            </a:r>
            <a:endParaRPr lang="en-US" sz="1250" dirty="0"/>
          </a:p>
        </p:txBody>
      </p:sp>
      <p:sp>
        <p:nvSpPr>
          <p:cNvPr id="6" name="Text 4"/>
          <p:cNvSpPr/>
          <p:nvPr/>
        </p:nvSpPr>
        <p:spPr>
          <a:xfrm>
            <a:off x="987552" y="230428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Trop généraliste, coût prohibitif, non adapté aux statuts métier d’un centre d’appels.</a:t>
            </a:r>
            <a:endParaRPr lang="en-US" sz="1000" dirty="0"/>
          </a:p>
        </p:txBody>
      </p:sp>
      <p:sp>
        <p:nvSpPr>
          <p:cNvPr id="7" name="Shape 5"/>
          <p:cNvSpPr/>
          <p:nvPr/>
        </p:nvSpPr>
        <p:spPr>
          <a:xfrm>
            <a:off x="6255868" y="1554480"/>
            <a:ext cx="5112868" cy="2240280"/>
          </a:xfrm>
          <a:prstGeom prst="roundRect">
            <a:avLst>
              <a:gd name="adj" fmla="val 2449"/>
            </a:avLst>
          </a:prstGeom>
          <a:solidFill>
            <a:srgbClr val="F2F2F2"/>
          </a:solidFill>
          <a:ln/>
        </p:spPr>
      </p:sp>
      <p:sp>
        <p:nvSpPr>
          <p:cNvPr id="8" name="Text 6"/>
          <p:cNvSpPr/>
          <p:nvPr/>
        </p:nvSpPr>
        <p:spPr>
          <a:xfrm>
            <a:off x="6420460" y="164592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02</a:t>
            </a:r>
            <a:endParaRPr lang="en-US" sz="1900" dirty="0"/>
          </a:p>
        </p:txBody>
      </p:sp>
      <p:sp>
        <p:nvSpPr>
          <p:cNvPr id="9" name="Text 7"/>
          <p:cNvSpPr/>
          <p:nvPr/>
        </p:nvSpPr>
        <p:spPr>
          <a:xfrm>
            <a:off x="6420460" y="199339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Zoho CRM</a:t>
            </a:r>
            <a:endParaRPr lang="en-US" sz="1250" dirty="0"/>
          </a:p>
        </p:txBody>
      </p:sp>
      <p:sp>
        <p:nvSpPr>
          <p:cNvPr id="10" name="Text 8"/>
          <p:cNvSpPr/>
          <p:nvPr/>
        </p:nvSpPr>
        <p:spPr>
          <a:xfrm>
            <a:off x="6420460" y="230428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Intégration complexe, manque de fonctionnalités spécifiques call center tunisien.</a:t>
            </a:r>
            <a:endParaRPr lang="en-US" sz="1000" dirty="0"/>
          </a:p>
        </p:txBody>
      </p:sp>
      <p:sp>
        <p:nvSpPr>
          <p:cNvPr id="11" name="Shape 9"/>
          <p:cNvSpPr/>
          <p:nvPr/>
        </p:nvSpPr>
        <p:spPr>
          <a:xfrm>
            <a:off x="822960" y="4114800"/>
            <a:ext cx="5112868" cy="2240280"/>
          </a:xfrm>
          <a:prstGeom prst="roundRect">
            <a:avLst>
              <a:gd name="adj" fmla="val 2449"/>
            </a:avLst>
          </a:prstGeom>
          <a:solidFill>
            <a:srgbClr val="F2F2F2"/>
          </a:solidFill>
          <a:ln/>
        </p:spPr>
      </p:sp>
      <p:sp>
        <p:nvSpPr>
          <p:cNvPr id="12" name="Text 10"/>
          <p:cNvSpPr/>
          <p:nvPr/>
        </p:nvSpPr>
        <p:spPr>
          <a:xfrm>
            <a:off x="987552" y="420624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03</a:t>
            </a:r>
            <a:endParaRPr lang="en-US" sz="1900" dirty="0"/>
          </a:p>
        </p:txBody>
      </p:sp>
      <p:sp>
        <p:nvSpPr>
          <p:cNvPr id="13" name="Text 11"/>
          <p:cNvSpPr/>
          <p:nvPr/>
        </p:nvSpPr>
        <p:spPr>
          <a:xfrm>
            <a:off x="987552" y="455371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HubSpot CRM</a:t>
            </a:r>
            <a:endParaRPr lang="en-US" sz="1250" dirty="0"/>
          </a:p>
        </p:txBody>
      </p:sp>
      <p:sp>
        <p:nvSpPr>
          <p:cNvPr id="14" name="Text 12"/>
          <p:cNvSpPr/>
          <p:nvPr/>
        </p:nvSpPr>
        <p:spPr>
          <a:xfrm>
            <a:off x="987552" y="486460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Pas de gestion de pointage, ni d’évaluation qualité, ni d’agenda multi-rôles.</a:t>
            </a:r>
            <a:endParaRPr lang="en-US" sz="1000" dirty="0"/>
          </a:p>
        </p:txBody>
      </p:sp>
      <p:sp>
        <p:nvSpPr>
          <p:cNvPr id="15" name="Shape 13"/>
          <p:cNvSpPr/>
          <p:nvPr/>
        </p:nvSpPr>
        <p:spPr>
          <a:xfrm>
            <a:off x="6255868" y="4114800"/>
            <a:ext cx="5112868" cy="2240280"/>
          </a:xfrm>
          <a:prstGeom prst="roundRect">
            <a:avLst>
              <a:gd name="adj" fmla="val 2449"/>
            </a:avLst>
          </a:prstGeom>
          <a:solidFill>
            <a:srgbClr val="F2F2F2"/>
          </a:solidFill>
          <a:ln/>
        </p:spPr>
      </p:sp>
      <p:sp>
        <p:nvSpPr>
          <p:cNvPr id="16" name="Text 14"/>
          <p:cNvSpPr/>
          <p:nvPr/>
        </p:nvSpPr>
        <p:spPr>
          <a:xfrm>
            <a:off x="6420460" y="420624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04</a:t>
            </a:r>
            <a:endParaRPr lang="en-US" sz="1900" dirty="0"/>
          </a:p>
        </p:txBody>
      </p:sp>
      <p:sp>
        <p:nvSpPr>
          <p:cNvPr id="17" name="Text 15"/>
          <p:cNvSpPr/>
          <p:nvPr/>
        </p:nvSpPr>
        <p:spPr>
          <a:xfrm>
            <a:off x="6420460" y="455371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Microsoft Dynamics</a:t>
            </a:r>
            <a:endParaRPr lang="en-US" sz="1250" dirty="0"/>
          </a:p>
        </p:txBody>
      </p:sp>
      <p:sp>
        <p:nvSpPr>
          <p:cNvPr id="18" name="Text 16"/>
          <p:cNvSpPr/>
          <p:nvPr/>
        </p:nvSpPr>
        <p:spPr>
          <a:xfrm>
            <a:off x="6420460" y="486460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Infrastructure lourde, licence coûteuse, peu adapté aux PME.</a:t>
            </a:r>
            <a:endParaRPr lang="en-US" sz="1000" dirty="0"/>
          </a:p>
        </p:txBody>
      </p:sp>
      <p:sp>
        <p:nvSpPr>
          <p:cNvPr id="19" name="Text 17"/>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03</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Problématique &amp; solution proposée</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De la question posée à la réponse apportée</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1002975" y="0"/>
            <a:ext cx="1188720" cy="1188720"/>
          </a:xfrm>
          <a:prstGeom prst="rect">
            <a:avLst/>
          </a:prstGeom>
          <a:solidFill>
            <a:srgbClr val="30459E"/>
          </a:solidFill>
          <a:ln/>
        </p:spPr>
      </p:sp>
      <p:sp>
        <p:nvSpPr>
          <p:cNvPr id="3" name="Text 1"/>
          <p:cNvSpPr/>
          <p:nvPr/>
        </p:nvSpPr>
        <p:spPr>
          <a:xfrm>
            <a:off x="822960" y="45720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3.1</a:t>
            </a:r>
            <a:endParaRPr lang="en-US" sz="1300" dirty="0"/>
          </a:p>
        </p:txBody>
      </p:sp>
      <p:sp>
        <p:nvSpPr>
          <p:cNvPr id="4" name="Text 2"/>
          <p:cNvSpPr/>
          <p:nvPr/>
        </p:nvSpPr>
        <p:spPr>
          <a:xfrm>
            <a:off x="822960" y="777240"/>
            <a:ext cx="9875520" cy="822960"/>
          </a:xfrm>
          <a:prstGeom prst="rect">
            <a:avLst/>
          </a:prstGeom>
          <a:noFill/>
          <a:ln/>
        </p:spPr>
        <p:txBody>
          <a:bodyPr wrap="square" lIns="0" tIns="0" rIns="0" bIns="0" rtlCol="0" anchor="ctr"/>
          <a:lstStyle/>
          <a:p>
            <a:pPr indent="0" marL="0">
              <a:buNone/>
            </a:pPr>
            <a:r>
              <a:rPr lang="en-US" sz="3000" b="1" dirty="0">
                <a:solidFill>
                  <a:srgbClr val="111111"/>
                </a:solidFill>
                <a:latin typeface="Arial" pitchFamily="34" charset="0"/>
                <a:ea typeface="Arial" pitchFamily="34" charset="-122"/>
                <a:cs typeface="Arial" pitchFamily="34" charset="-120"/>
              </a:rPr>
              <a:t>Problématique</a:t>
            </a:r>
            <a:endParaRPr lang="en-US" sz="3000" dirty="0"/>
          </a:p>
        </p:txBody>
      </p:sp>
      <p:sp>
        <p:nvSpPr>
          <p:cNvPr id="5" name="Text 3"/>
          <p:cNvSpPr/>
          <p:nvPr/>
        </p:nvSpPr>
        <p:spPr>
          <a:xfrm>
            <a:off x="822960" y="1691640"/>
            <a:ext cx="10424160" cy="1188720"/>
          </a:xfrm>
          <a:prstGeom prst="rect">
            <a:avLst/>
          </a:prstGeom>
          <a:noFill/>
          <a:ln/>
        </p:spPr>
        <p:txBody>
          <a:bodyPr wrap="square" lIns="0" tIns="0" rIns="0" bIns="0" rtlCol="0" anchor="ctr"/>
          <a:lstStyle/>
          <a:p>
            <a:pPr indent="0" marL="0">
              <a:lnSpc>
                <a:spcPts val="1800"/>
              </a:lnSpc>
              <a:buNone/>
            </a:pPr>
            <a:r>
              <a:rPr lang="en-US" sz="1350" dirty="0">
                <a:solidFill>
                  <a:srgbClr val="1A1A1A"/>
                </a:solidFill>
                <a:latin typeface="Arial" pitchFamily="34" charset="0"/>
                <a:ea typeface="Arial" pitchFamily="34" charset="-122"/>
                <a:cs typeface="Arial" pitchFamily="34" charset="-120"/>
              </a:rPr>
              <a:t>Comment concevoir une plateforme CRM intégrée et sécurisée qui centralise la gestion des contacts, des agendas multi-rôles et des évaluations qualité, la traçabilité des actions et la collaboration en temps réel entre les différents services de 3LM Solutions ?</a:t>
            </a:r>
            <a:endParaRPr lang="en-US" sz="1350" dirty="0"/>
          </a:p>
        </p:txBody>
      </p:sp>
      <p:sp>
        <p:nvSpPr>
          <p:cNvPr id="6" name="Text 4"/>
          <p:cNvSpPr/>
          <p:nvPr/>
        </p:nvSpPr>
        <p:spPr>
          <a:xfrm>
            <a:off x="822960" y="3017520"/>
            <a:ext cx="10424160" cy="365760"/>
          </a:xfrm>
          <a:prstGeom prst="rect">
            <a:avLst/>
          </a:prstGeom>
          <a:noFill/>
          <a:ln/>
        </p:spPr>
        <p:txBody>
          <a:bodyPr wrap="square" lIns="0" tIns="0" rIns="0" bIns="0" rtlCol="0" anchor="ctr"/>
          <a:lstStyle/>
          <a:p>
            <a:pPr marL="177800" indent="-177800">
              <a:buSzPct val="100000"/>
              <a:buChar char="•"/>
            </a:pPr>
            <a:r>
              <a:rPr lang="en-US" sz="1300" dirty="0">
                <a:solidFill>
                  <a:srgbClr val="1A1A1A"/>
                </a:solidFill>
                <a:latin typeface="Arial" pitchFamily="34" charset="0"/>
                <a:ea typeface="Arial" pitchFamily="34" charset="-122"/>
                <a:cs typeface="Arial" pitchFamily="34" charset="-120"/>
              </a:rPr>
              <a:t>Cette question découle directement du constat établi en étude préliminaire : dispersion des outils, absence de traçabilité, suivi qualité inexistant.</a:t>
            </a:r>
            <a:endParaRPr lang="en-US" sz="1300" dirty="0"/>
          </a:p>
        </p:txBody>
      </p:sp>
      <p:sp>
        <p:nvSpPr>
          <p:cNvPr id="7" name="Text 5"/>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10.</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Solution proposée</a:t>
            </a:r>
            <a:endParaRPr lang="en-US" sz="3000" dirty="0"/>
          </a:p>
        </p:txBody>
      </p:sp>
      <p:sp>
        <p:nvSpPr>
          <p:cNvPr id="3" name="Text 1"/>
          <p:cNvSpPr/>
          <p:nvPr/>
        </p:nvSpPr>
        <p:spPr>
          <a:xfrm>
            <a:off x="1188720" y="1234440"/>
            <a:ext cx="9784080" cy="548640"/>
          </a:xfrm>
          <a:prstGeom prst="rect">
            <a:avLst/>
          </a:prstGeom>
          <a:noFill/>
          <a:ln/>
        </p:spPr>
        <p:txBody>
          <a:bodyPr wrap="square" lIns="0" tIns="0" rIns="0" bIns="0" rtlCol="0" anchor="ctr"/>
          <a:lstStyle/>
          <a:p>
            <a:pPr algn="ctr" indent="0" marL="0">
              <a:buNone/>
            </a:pPr>
            <a:r>
              <a:rPr lang="en-US" sz="1200" dirty="0">
                <a:solidFill>
                  <a:srgbClr val="DEE3F7"/>
                </a:solidFill>
                <a:latin typeface="Arial" pitchFamily="34" charset="0"/>
                <a:ea typeface="Arial" pitchFamily="34" charset="-122"/>
                <a:cs typeface="Arial" pitchFamily="34" charset="-120"/>
              </a:rPr>
              <a:t>Mise en place d'une plateforme CRM sur mesure couvrant l'ensemble du cycle de vie d'un contact : de la première qualification téléphonique jusqu'à la confirmation du rendez-vous et l'évaluation de la qualité de l'appel.</a:t>
            </a:r>
            <a:endParaRPr lang="en-US" sz="1200" dirty="0"/>
          </a:p>
        </p:txBody>
      </p:sp>
      <p:sp>
        <p:nvSpPr>
          <p:cNvPr id="4" name="Shape 2"/>
          <p:cNvSpPr/>
          <p:nvPr/>
        </p:nvSpPr>
        <p:spPr>
          <a:xfrm>
            <a:off x="822960" y="1965960"/>
            <a:ext cx="5112868" cy="2034540"/>
          </a:xfrm>
          <a:prstGeom prst="roundRect">
            <a:avLst>
              <a:gd name="adj" fmla="val 2697"/>
            </a:avLst>
          </a:prstGeom>
          <a:solidFill>
            <a:srgbClr val="F2F2F2"/>
          </a:solidFill>
          <a:ln/>
        </p:spPr>
      </p:sp>
      <p:sp>
        <p:nvSpPr>
          <p:cNvPr id="5" name="Text 3"/>
          <p:cNvSpPr/>
          <p:nvPr/>
        </p:nvSpPr>
        <p:spPr>
          <a:xfrm>
            <a:off x="987552" y="205740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1</a:t>
            </a:r>
            <a:endParaRPr lang="en-US" sz="1900" dirty="0"/>
          </a:p>
        </p:txBody>
      </p:sp>
      <p:sp>
        <p:nvSpPr>
          <p:cNvPr id="6" name="Text 4"/>
          <p:cNvSpPr/>
          <p:nvPr/>
        </p:nvSpPr>
        <p:spPr>
          <a:xfrm>
            <a:off x="987552" y="240487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Agent</a:t>
            </a:r>
            <a:endParaRPr lang="en-US" sz="1250" dirty="0"/>
          </a:p>
        </p:txBody>
      </p:sp>
      <p:sp>
        <p:nvSpPr>
          <p:cNvPr id="7" name="Text 5"/>
          <p:cNvSpPr/>
          <p:nvPr/>
        </p:nvSpPr>
        <p:spPr>
          <a:xfrm>
            <a:off x="987552" y="271576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Qualifie les contacts et prend les rendez-vous.</a:t>
            </a:r>
            <a:endParaRPr lang="en-US" sz="1000" dirty="0"/>
          </a:p>
        </p:txBody>
      </p:sp>
      <p:sp>
        <p:nvSpPr>
          <p:cNvPr id="8" name="Shape 6"/>
          <p:cNvSpPr/>
          <p:nvPr/>
        </p:nvSpPr>
        <p:spPr>
          <a:xfrm>
            <a:off x="6255868" y="1965960"/>
            <a:ext cx="5112868" cy="2034540"/>
          </a:xfrm>
          <a:prstGeom prst="roundRect">
            <a:avLst>
              <a:gd name="adj" fmla="val 2697"/>
            </a:avLst>
          </a:prstGeom>
          <a:solidFill>
            <a:srgbClr val="F2F2F2"/>
          </a:solidFill>
          <a:ln/>
        </p:spPr>
      </p:sp>
      <p:sp>
        <p:nvSpPr>
          <p:cNvPr id="9" name="Text 7"/>
          <p:cNvSpPr/>
          <p:nvPr/>
        </p:nvSpPr>
        <p:spPr>
          <a:xfrm>
            <a:off x="6420460" y="205740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2</a:t>
            </a:r>
            <a:endParaRPr lang="en-US" sz="1900" dirty="0"/>
          </a:p>
        </p:txBody>
      </p:sp>
      <p:sp>
        <p:nvSpPr>
          <p:cNvPr id="10" name="Text 8"/>
          <p:cNvSpPr/>
          <p:nvPr/>
        </p:nvSpPr>
        <p:spPr>
          <a:xfrm>
            <a:off x="6420460" y="240487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Confirmatrice</a:t>
            </a:r>
            <a:endParaRPr lang="en-US" sz="1250" dirty="0"/>
          </a:p>
        </p:txBody>
      </p:sp>
      <p:sp>
        <p:nvSpPr>
          <p:cNvPr id="11" name="Text 9"/>
          <p:cNvSpPr/>
          <p:nvPr/>
        </p:nvSpPr>
        <p:spPr>
          <a:xfrm>
            <a:off x="6420460" y="271576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Confirme les RDV via les agendas EBI / Client / Refus.</a:t>
            </a:r>
            <a:endParaRPr lang="en-US" sz="1000" dirty="0"/>
          </a:p>
        </p:txBody>
      </p:sp>
      <p:sp>
        <p:nvSpPr>
          <p:cNvPr id="12" name="Shape 10"/>
          <p:cNvSpPr/>
          <p:nvPr/>
        </p:nvSpPr>
        <p:spPr>
          <a:xfrm>
            <a:off x="822960" y="4320540"/>
            <a:ext cx="5112868" cy="2034540"/>
          </a:xfrm>
          <a:prstGeom prst="roundRect">
            <a:avLst>
              <a:gd name="adj" fmla="val 2697"/>
            </a:avLst>
          </a:prstGeom>
          <a:solidFill>
            <a:srgbClr val="F2F2F2"/>
          </a:solidFill>
          <a:ln/>
        </p:spPr>
      </p:sp>
      <p:sp>
        <p:nvSpPr>
          <p:cNvPr id="13" name="Text 11"/>
          <p:cNvSpPr/>
          <p:nvPr/>
        </p:nvSpPr>
        <p:spPr>
          <a:xfrm>
            <a:off x="987552" y="441198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3</a:t>
            </a:r>
            <a:endParaRPr lang="en-US" sz="1900" dirty="0"/>
          </a:p>
        </p:txBody>
      </p:sp>
      <p:sp>
        <p:nvSpPr>
          <p:cNvPr id="14" name="Text 12"/>
          <p:cNvSpPr/>
          <p:nvPr/>
        </p:nvSpPr>
        <p:spPr>
          <a:xfrm>
            <a:off x="987552" y="475945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Commercial</a:t>
            </a:r>
            <a:endParaRPr lang="en-US" sz="1250" dirty="0"/>
          </a:p>
        </p:txBody>
      </p:sp>
      <p:sp>
        <p:nvSpPr>
          <p:cNvPr id="15" name="Text 13"/>
          <p:cNvSpPr/>
          <p:nvPr/>
        </p:nvSpPr>
        <p:spPr>
          <a:xfrm>
            <a:off x="987552" y="507034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Assure le suivi terrain des RDV confirmés.</a:t>
            </a:r>
            <a:endParaRPr lang="en-US" sz="1000" dirty="0"/>
          </a:p>
        </p:txBody>
      </p:sp>
      <p:sp>
        <p:nvSpPr>
          <p:cNvPr id="16" name="Shape 14"/>
          <p:cNvSpPr/>
          <p:nvPr/>
        </p:nvSpPr>
        <p:spPr>
          <a:xfrm>
            <a:off x="6255868" y="4320540"/>
            <a:ext cx="5112868" cy="2034540"/>
          </a:xfrm>
          <a:prstGeom prst="roundRect">
            <a:avLst>
              <a:gd name="adj" fmla="val 2697"/>
            </a:avLst>
          </a:prstGeom>
          <a:solidFill>
            <a:srgbClr val="F2F2F2"/>
          </a:solidFill>
          <a:ln/>
        </p:spPr>
      </p:sp>
      <p:sp>
        <p:nvSpPr>
          <p:cNvPr id="17" name="Text 15"/>
          <p:cNvSpPr/>
          <p:nvPr/>
        </p:nvSpPr>
        <p:spPr>
          <a:xfrm>
            <a:off x="6420460" y="441198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4</a:t>
            </a:r>
            <a:endParaRPr lang="en-US" sz="1900" dirty="0"/>
          </a:p>
        </p:txBody>
      </p:sp>
      <p:sp>
        <p:nvSpPr>
          <p:cNvPr id="18" name="Text 16"/>
          <p:cNvSpPr/>
          <p:nvPr/>
        </p:nvSpPr>
        <p:spPr>
          <a:xfrm>
            <a:off x="6420460" y="475945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Service Qualité</a:t>
            </a:r>
            <a:endParaRPr lang="en-US" sz="1250" dirty="0"/>
          </a:p>
        </p:txBody>
      </p:sp>
      <p:sp>
        <p:nvSpPr>
          <p:cNvPr id="19" name="Text 17"/>
          <p:cNvSpPr/>
          <p:nvPr/>
        </p:nvSpPr>
        <p:spPr>
          <a:xfrm>
            <a:off x="6420460" y="507034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Évalue les appels et objective la performance.</a:t>
            </a:r>
            <a:endParaRPr lang="en-US" sz="1000" dirty="0"/>
          </a:p>
        </p:txBody>
      </p:sp>
      <p:sp>
        <p:nvSpPr>
          <p:cNvPr id="20" name="Text 18"/>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04</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Méthodologie de travail</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Une démarche Scrum en 6 sprints de 4 semaines</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45720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4.1</a:t>
            </a:r>
            <a:endParaRPr lang="en-US" sz="1300" dirty="0"/>
          </a:p>
        </p:txBody>
      </p:sp>
      <p:sp>
        <p:nvSpPr>
          <p:cNvPr id="3" name="Text 1"/>
          <p:cNvSpPr/>
          <p:nvPr/>
        </p:nvSpPr>
        <p:spPr>
          <a:xfrm>
            <a:off x="822960" y="777240"/>
            <a:ext cx="9875520" cy="64008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Méthode Scrum — 6 sprints</a:t>
            </a:r>
            <a:endParaRPr lang="en-US" sz="2800" dirty="0"/>
          </a:p>
        </p:txBody>
      </p:sp>
      <p:sp>
        <p:nvSpPr>
          <p:cNvPr id="4" name="Text 2"/>
          <p:cNvSpPr/>
          <p:nvPr/>
        </p:nvSpPr>
        <p:spPr>
          <a:xfrm>
            <a:off x="822960" y="1508760"/>
            <a:ext cx="10424160" cy="548640"/>
          </a:xfrm>
          <a:prstGeom prst="rect">
            <a:avLst/>
          </a:prstGeom>
          <a:noFill/>
          <a:ln/>
        </p:spPr>
        <p:txBody>
          <a:bodyPr wrap="square" lIns="0" tIns="0" rIns="0" bIns="0" rtlCol="0" anchor="ctr"/>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Développement itératif en 6 sprints (Sprint 0 à Sprint 5) de 4 semaines chacun, avec des revues régulières permettant d’absorber les besoins apparus en cours de projet (messagerie SignalR, module d’analyse IA).</a:t>
            </a:r>
            <a:endParaRPr lang="en-US" sz="1250" dirty="0"/>
          </a:p>
        </p:txBody>
      </p:sp>
      <p:sp>
        <p:nvSpPr>
          <p:cNvPr id="5" name="Shape 3"/>
          <p:cNvSpPr/>
          <p:nvPr/>
        </p:nvSpPr>
        <p:spPr>
          <a:xfrm>
            <a:off x="822960" y="2194560"/>
            <a:ext cx="566928" cy="566928"/>
          </a:xfrm>
          <a:prstGeom prst="roundRect">
            <a:avLst>
              <a:gd name="adj" fmla="val 12903"/>
            </a:avLst>
          </a:prstGeom>
          <a:solidFill>
            <a:srgbClr val="30459E"/>
          </a:solidFill>
          <a:ln/>
        </p:spPr>
      </p:sp>
      <p:sp>
        <p:nvSpPr>
          <p:cNvPr id="6" name="Text 4"/>
          <p:cNvSpPr/>
          <p:nvPr/>
        </p:nvSpPr>
        <p:spPr>
          <a:xfrm>
            <a:off x="822960"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S0</a:t>
            </a:r>
            <a:endParaRPr lang="en-US" sz="1600" dirty="0"/>
          </a:p>
        </p:txBody>
      </p:sp>
      <p:sp>
        <p:nvSpPr>
          <p:cNvPr id="7" name="Shape 5"/>
          <p:cNvSpPr/>
          <p:nvPr/>
        </p:nvSpPr>
        <p:spPr>
          <a:xfrm>
            <a:off x="822960" y="2907792"/>
            <a:ext cx="457200" cy="0"/>
          </a:xfrm>
          <a:prstGeom prst="line">
            <a:avLst/>
          </a:prstGeom>
          <a:noFill/>
          <a:ln w="19050">
            <a:solidFill>
              <a:srgbClr val="30459E"/>
            </a:solidFill>
            <a:prstDash val="solid"/>
          </a:ln>
        </p:spPr>
      </p:sp>
      <p:sp>
        <p:nvSpPr>
          <p:cNvPr id="8" name="Text 6"/>
          <p:cNvSpPr/>
          <p:nvPr/>
        </p:nvSpPr>
        <p:spPr>
          <a:xfrm>
            <a:off x="822960" y="298094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Cadrage &amp; analyse</a:t>
            </a:r>
            <a:endParaRPr lang="en-US" sz="1200" dirty="0"/>
          </a:p>
        </p:txBody>
      </p:sp>
      <p:sp>
        <p:nvSpPr>
          <p:cNvPr id="9" name="Text 7"/>
          <p:cNvSpPr/>
          <p:nvPr/>
        </p:nvSpPr>
        <p:spPr>
          <a:xfrm>
            <a:off x="822960" y="3255264"/>
            <a:ext cx="3195218"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Étude de l'existant, recueil des besoins, spécifications, choix de la stack, mise en place de l'environnement.</a:t>
            </a:r>
            <a:endParaRPr lang="en-US" sz="1000" dirty="0"/>
          </a:p>
        </p:txBody>
      </p:sp>
      <p:sp>
        <p:nvSpPr>
          <p:cNvPr id="10" name="Shape 8"/>
          <p:cNvSpPr/>
          <p:nvPr/>
        </p:nvSpPr>
        <p:spPr>
          <a:xfrm>
            <a:off x="4429658" y="2194560"/>
            <a:ext cx="566928" cy="566928"/>
          </a:xfrm>
          <a:prstGeom prst="roundRect">
            <a:avLst>
              <a:gd name="adj" fmla="val 12903"/>
            </a:avLst>
          </a:prstGeom>
          <a:solidFill>
            <a:srgbClr val="30459E"/>
          </a:solidFill>
          <a:ln/>
        </p:spPr>
      </p:sp>
      <p:sp>
        <p:nvSpPr>
          <p:cNvPr id="11" name="Text 9"/>
          <p:cNvSpPr/>
          <p:nvPr/>
        </p:nvSpPr>
        <p:spPr>
          <a:xfrm>
            <a:off x="4429658"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S1</a:t>
            </a:r>
            <a:endParaRPr lang="en-US" sz="1600" dirty="0"/>
          </a:p>
        </p:txBody>
      </p:sp>
      <p:sp>
        <p:nvSpPr>
          <p:cNvPr id="12" name="Shape 10"/>
          <p:cNvSpPr/>
          <p:nvPr/>
        </p:nvSpPr>
        <p:spPr>
          <a:xfrm>
            <a:off x="4429658" y="2907792"/>
            <a:ext cx="457200" cy="0"/>
          </a:xfrm>
          <a:prstGeom prst="line">
            <a:avLst/>
          </a:prstGeom>
          <a:noFill/>
          <a:ln w="19050">
            <a:solidFill>
              <a:srgbClr val="30459E"/>
            </a:solidFill>
            <a:prstDash val="solid"/>
          </a:ln>
        </p:spPr>
      </p:sp>
      <p:sp>
        <p:nvSpPr>
          <p:cNvPr id="13" name="Text 11"/>
          <p:cNvSpPr/>
          <p:nvPr/>
        </p:nvSpPr>
        <p:spPr>
          <a:xfrm>
            <a:off x="4429658" y="298094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Fondations</a:t>
            </a:r>
            <a:endParaRPr lang="en-US" sz="1200" dirty="0"/>
          </a:p>
        </p:txBody>
      </p:sp>
      <p:sp>
        <p:nvSpPr>
          <p:cNvPr id="14" name="Text 12"/>
          <p:cNvSpPr/>
          <p:nvPr/>
        </p:nvSpPr>
        <p:spPr>
          <a:xfrm>
            <a:off x="4429658" y="3255264"/>
            <a:ext cx="3195218"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Authentification JWT, rôles/permissions, entités de base, premières interfaces Admin / SuperAdmin.</a:t>
            </a:r>
            <a:endParaRPr lang="en-US" sz="1000" dirty="0"/>
          </a:p>
        </p:txBody>
      </p:sp>
      <p:sp>
        <p:nvSpPr>
          <p:cNvPr id="15" name="Shape 13"/>
          <p:cNvSpPr/>
          <p:nvPr/>
        </p:nvSpPr>
        <p:spPr>
          <a:xfrm>
            <a:off x="8036357" y="2194560"/>
            <a:ext cx="566928" cy="566928"/>
          </a:xfrm>
          <a:prstGeom prst="roundRect">
            <a:avLst>
              <a:gd name="adj" fmla="val 12903"/>
            </a:avLst>
          </a:prstGeom>
          <a:solidFill>
            <a:srgbClr val="30459E"/>
          </a:solidFill>
          <a:ln/>
        </p:spPr>
      </p:sp>
      <p:sp>
        <p:nvSpPr>
          <p:cNvPr id="16" name="Text 14"/>
          <p:cNvSpPr/>
          <p:nvPr/>
        </p:nvSpPr>
        <p:spPr>
          <a:xfrm>
            <a:off x="8036357"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S2</a:t>
            </a:r>
            <a:endParaRPr lang="en-US" sz="1600" dirty="0"/>
          </a:p>
        </p:txBody>
      </p:sp>
      <p:sp>
        <p:nvSpPr>
          <p:cNvPr id="17" name="Shape 15"/>
          <p:cNvSpPr/>
          <p:nvPr/>
        </p:nvSpPr>
        <p:spPr>
          <a:xfrm>
            <a:off x="8036357" y="2907792"/>
            <a:ext cx="457200" cy="0"/>
          </a:xfrm>
          <a:prstGeom prst="line">
            <a:avLst/>
          </a:prstGeom>
          <a:noFill/>
          <a:ln w="19050">
            <a:solidFill>
              <a:srgbClr val="30459E"/>
            </a:solidFill>
            <a:prstDash val="solid"/>
          </a:ln>
        </p:spPr>
      </p:sp>
      <p:sp>
        <p:nvSpPr>
          <p:cNvPr id="18" name="Text 16"/>
          <p:cNvSpPr/>
          <p:nvPr/>
        </p:nvSpPr>
        <p:spPr>
          <a:xfrm>
            <a:off x="8036357" y="298094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Cœur métier</a:t>
            </a:r>
            <a:endParaRPr lang="en-US" sz="1200" dirty="0"/>
          </a:p>
        </p:txBody>
      </p:sp>
      <p:sp>
        <p:nvSpPr>
          <p:cNvPr id="19" name="Text 17"/>
          <p:cNvSpPr/>
          <p:nvPr/>
        </p:nvSpPr>
        <p:spPr>
          <a:xfrm>
            <a:off x="8036357" y="3255264"/>
            <a:ext cx="3195218"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Fiche contact, appel en direct, agendas multi-rôles, workflow de confirmation agent → confirmatrice.</a:t>
            </a:r>
            <a:endParaRPr lang="en-US" sz="1000" dirty="0"/>
          </a:p>
        </p:txBody>
      </p:sp>
      <p:sp>
        <p:nvSpPr>
          <p:cNvPr id="20" name="Shape 18"/>
          <p:cNvSpPr/>
          <p:nvPr/>
        </p:nvSpPr>
        <p:spPr>
          <a:xfrm>
            <a:off x="822960" y="4206240"/>
            <a:ext cx="566928" cy="566928"/>
          </a:xfrm>
          <a:prstGeom prst="roundRect">
            <a:avLst>
              <a:gd name="adj" fmla="val 12903"/>
            </a:avLst>
          </a:prstGeom>
          <a:solidFill>
            <a:srgbClr val="30459E"/>
          </a:solidFill>
          <a:ln/>
        </p:spPr>
      </p:sp>
      <p:sp>
        <p:nvSpPr>
          <p:cNvPr id="21" name="Text 19"/>
          <p:cNvSpPr/>
          <p:nvPr/>
        </p:nvSpPr>
        <p:spPr>
          <a:xfrm>
            <a:off x="822960"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S3</a:t>
            </a:r>
            <a:endParaRPr lang="en-US" sz="1600" dirty="0"/>
          </a:p>
        </p:txBody>
      </p:sp>
      <p:sp>
        <p:nvSpPr>
          <p:cNvPr id="22" name="Shape 20"/>
          <p:cNvSpPr/>
          <p:nvPr/>
        </p:nvSpPr>
        <p:spPr>
          <a:xfrm>
            <a:off x="822960" y="4919472"/>
            <a:ext cx="457200" cy="0"/>
          </a:xfrm>
          <a:prstGeom prst="line">
            <a:avLst/>
          </a:prstGeom>
          <a:noFill/>
          <a:ln w="19050">
            <a:solidFill>
              <a:srgbClr val="30459E"/>
            </a:solidFill>
            <a:prstDash val="solid"/>
          </a:ln>
        </p:spPr>
      </p:sp>
      <p:sp>
        <p:nvSpPr>
          <p:cNvPr id="23" name="Text 21"/>
          <p:cNvSpPr/>
          <p:nvPr/>
        </p:nvSpPr>
        <p:spPr>
          <a:xfrm>
            <a:off x="822960" y="499262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Modules transverses</a:t>
            </a:r>
            <a:endParaRPr lang="en-US" sz="1200" dirty="0"/>
          </a:p>
        </p:txBody>
      </p:sp>
      <p:sp>
        <p:nvSpPr>
          <p:cNvPr id="24" name="Text 22"/>
          <p:cNvSpPr/>
          <p:nvPr/>
        </p:nvSpPr>
        <p:spPr>
          <a:xfrm>
            <a:off x="822960" y="5266944"/>
            <a:ext cx="3195218"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Pointage multi-rôles, évaluation qualité, gestion des fichiers, import de leads, calcul des salaires.</a:t>
            </a:r>
            <a:endParaRPr lang="en-US" sz="1000" dirty="0"/>
          </a:p>
        </p:txBody>
      </p:sp>
      <p:sp>
        <p:nvSpPr>
          <p:cNvPr id="25" name="Shape 23"/>
          <p:cNvSpPr/>
          <p:nvPr/>
        </p:nvSpPr>
        <p:spPr>
          <a:xfrm>
            <a:off x="4429658" y="4206240"/>
            <a:ext cx="566928" cy="566928"/>
          </a:xfrm>
          <a:prstGeom prst="roundRect">
            <a:avLst>
              <a:gd name="adj" fmla="val 12903"/>
            </a:avLst>
          </a:prstGeom>
          <a:solidFill>
            <a:srgbClr val="30459E"/>
          </a:solidFill>
          <a:ln/>
        </p:spPr>
      </p:sp>
      <p:sp>
        <p:nvSpPr>
          <p:cNvPr id="26" name="Text 24"/>
          <p:cNvSpPr/>
          <p:nvPr/>
        </p:nvSpPr>
        <p:spPr>
          <a:xfrm>
            <a:off x="4429658"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S4</a:t>
            </a:r>
            <a:endParaRPr lang="en-US" sz="1600" dirty="0"/>
          </a:p>
        </p:txBody>
      </p:sp>
      <p:sp>
        <p:nvSpPr>
          <p:cNvPr id="27" name="Shape 25"/>
          <p:cNvSpPr/>
          <p:nvPr/>
        </p:nvSpPr>
        <p:spPr>
          <a:xfrm>
            <a:off x="4429658" y="4919472"/>
            <a:ext cx="457200" cy="0"/>
          </a:xfrm>
          <a:prstGeom prst="line">
            <a:avLst/>
          </a:prstGeom>
          <a:noFill/>
          <a:ln w="19050">
            <a:solidFill>
              <a:srgbClr val="30459E"/>
            </a:solidFill>
            <a:prstDash val="solid"/>
          </a:ln>
        </p:spPr>
      </p:sp>
      <p:sp>
        <p:nvSpPr>
          <p:cNvPr id="28" name="Text 26"/>
          <p:cNvSpPr/>
          <p:nvPr/>
        </p:nvSpPr>
        <p:spPr>
          <a:xfrm>
            <a:off x="4429658" y="499262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Intelligence &amp; collaboration</a:t>
            </a:r>
            <a:endParaRPr lang="en-US" sz="1200" dirty="0"/>
          </a:p>
        </p:txBody>
      </p:sp>
      <p:sp>
        <p:nvSpPr>
          <p:cNvPr id="29" name="Text 27"/>
          <p:cNvSpPr/>
          <p:nvPr/>
        </p:nvSpPr>
        <p:spPr>
          <a:xfrm>
            <a:off x="4429658" y="5266944"/>
            <a:ext cx="3195218"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Messagerie temps réel (SignalR), microservice IA Python, analytique avancée.</a:t>
            </a:r>
            <a:endParaRPr lang="en-US" sz="1000" dirty="0"/>
          </a:p>
        </p:txBody>
      </p:sp>
      <p:sp>
        <p:nvSpPr>
          <p:cNvPr id="30" name="Shape 28"/>
          <p:cNvSpPr/>
          <p:nvPr/>
        </p:nvSpPr>
        <p:spPr>
          <a:xfrm>
            <a:off x="8036357" y="4206240"/>
            <a:ext cx="566928" cy="566928"/>
          </a:xfrm>
          <a:prstGeom prst="roundRect">
            <a:avLst>
              <a:gd name="adj" fmla="val 12903"/>
            </a:avLst>
          </a:prstGeom>
          <a:solidFill>
            <a:srgbClr val="30459E"/>
          </a:solidFill>
          <a:ln/>
        </p:spPr>
      </p:sp>
      <p:sp>
        <p:nvSpPr>
          <p:cNvPr id="31" name="Text 29"/>
          <p:cNvSpPr/>
          <p:nvPr/>
        </p:nvSpPr>
        <p:spPr>
          <a:xfrm>
            <a:off x="8036357"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S5</a:t>
            </a:r>
            <a:endParaRPr lang="en-US" sz="1600" dirty="0"/>
          </a:p>
        </p:txBody>
      </p:sp>
      <p:sp>
        <p:nvSpPr>
          <p:cNvPr id="32" name="Shape 30"/>
          <p:cNvSpPr/>
          <p:nvPr/>
        </p:nvSpPr>
        <p:spPr>
          <a:xfrm>
            <a:off x="8036357" y="4919472"/>
            <a:ext cx="457200" cy="0"/>
          </a:xfrm>
          <a:prstGeom prst="line">
            <a:avLst/>
          </a:prstGeom>
          <a:noFill/>
          <a:ln w="19050">
            <a:solidFill>
              <a:srgbClr val="30459E"/>
            </a:solidFill>
            <a:prstDash val="solid"/>
          </a:ln>
        </p:spPr>
      </p:sp>
      <p:sp>
        <p:nvSpPr>
          <p:cNvPr id="33" name="Text 31"/>
          <p:cNvSpPr/>
          <p:nvPr/>
        </p:nvSpPr>
        <p:spPr>
          <a:xfrm>
            <a:off x="8036357" y="4992624"/>
            <a:ext cx="3195218"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Stabilisation &amp; recette</a:t>
            </a:r>
            <a:endParaRPr lang="en-US" sz="1200" dirty="0"/>
          </a:p>
        </p:txBody>
      </p:sp>
      <p:sp>
        <p:nvSpPr>
          <p:cNvPr id="34" name="Text 32"/>
          <p:cNvSpPr/>
          <p:nvPr/>
        </p:nvSpPr>
        <p:spPr>
          <a:xfrm>
            <a:off x="8036357" y="5266944"/>
            <a:ext cx="3195218"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Corrections de bugs, tests fonctionnels par rôle, jeu de données démo, rédaction du rapport.</a:t>
            </a:r>
            <a:endParaRPr lang="en-US" sz="1000" dirty="0"/>
          </a:p>
        </p:txBody>
      </p:sp>
      <p:sp>
        <p:nvSpPr>
          <p:cNvPr id="35" name="Text 3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13.</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05</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Besoins spécifiques</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Fonctionnels et non fonctionnels</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14.</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Besoins fonctionnels</a:t>
            </a:r>
            <a:endParaRPr lang="en-US" sz="3000" dirty="0"/>
          </a:p>
        </p:txBody>
      </p:sp>
      <p:sp>
        <p:nvSpPr>
          <p:cNvPr id="3" name="Shape 1"/>
          <p:cNvSpPr/>
          <p:nvPr/>
        </p:nvSpPr>
        <p:spPr>
          <a:xfrm>
            <a:off x="822960" y="1554480"/>
            <a:ext cx="3301898" cy="2240280"/>
          </a:xfrm>
          <a:prstGeom prst="roundRect">
            <a:avLst>
              <a:gd name="adj" fmla="val 2449"/>
            </a:avLst>
          </a:prstGeom>
          <a:solidFill>
            <a:srgbClr val="F2F2F2"/>
          </a:solidFill>
          <a:ln/>
        </p:spPr>
      </p:sp>
      <p:sp>
        <p:nvSpPr>
          <p:cNvPr id="4" name="Text 2"/>
          <p:cNvSpPr/>
          <p:nvPr/>
        </p:nvSpPr>
        <p:spPr>
          <a:xfrm>
            <a:off x="987552" y="1645920"/>
            <a:ext cx="297271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01</a:t>
            </a:r>
            <a:endParaRPr lang="en-US" sz="1900" dirty="0"/>
          </a:p>
        </p:txBody>
      </p:sp>
      <p:sp>
        <p:nvSpPr>
          <p:cNvPr id="5" name="Text 3"/>
          <p:cNvSpPr/>
          <p:nvPr/>
        </p:nvSpPr>
        <p:spPr>
          <a:xfrm>
            <a:off x="987552" y="1993392"/>
            <a:ext cx="297271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Contacts &amp; qualification</a:t>
            </a:r>
            <a:endParaRPr lang="en-US" sz="1250" dirty="0"/>
          </a:p>
        </p:txBody>
      </p:sp>
      <p:sp>
        <p:nvSpPr>
          <p:cNvPr id="6" name="Text 4"/>
          <p:cNvSpPr/>
          <p:nvPr/>
        </p:nvSpPr>
        <p:spPr>
          <a:xfrm>
            <a:off x="987552" y="2304288"/>
            <a:ext cx="297271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Fiche contact complète, statuts EBI / NRP / HC / Refus, historique d’appels.</a:t>
            </a:r>
            <a:endParaRPr lang="en-US" sz="1000" dirty="0"/>
          </a:p>
        </p:txBody>
      </p:sp>
      <p:sp>
        <p:nvSpPr>
          <p:cNvPr id="7" name="Shape 5"/>
          <p:cNvSpPr/>
          <p:nvPr/>
        </p:nvSpPr>
        <p:spPr>
          <a:xfrm>
            <a:off x="4444898" y="1554480"/>
            <a:ext cx="3301898" cy="2240280"/>
          </a:xfrm>
          <a:prstGeom prst="roundRect">
            <a:avLst>
              <a:gd name="adj" fmla="val 2449"/>
            </a:avLst>
          </a:prstGeom>
          <a:solidFill>
            <a:srgbClr val="F2F2F2"/>
          </a:solidFill>
          <a:ln/>
        </p:spPr>
      </p:sp>
      <p:sp>
        <p:nvSpPr>
          <p:cNvPr id="8" name="Text 6"/>
          <p:cNvSpPr/>
          <p:nvPr/>
        </p:nvSpPr>
        <p:spPr>
          <a:xfrm>
            <a:off x="4609490" y="1645920"/>
            <a:ext cx="297271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02</a:t>
            </a:r>
            <a:endParaRPr lang="en-US" sz="1900" dirty="0"/>
          </a:p>
        </p:txBody>
      </p:sp>
      <p:sp>
        <p:nvSpPr>
          <p:cNvPr id="9" name="Text 7"/>
          <p:cNvSpPr/>
          <p:nvPr/>
        </p:nvSpPr>
        <p:spPr>
          <a:xfrm>
            <a:off x="4609490" y="1993392"/>
            <a:ext cx="297271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Gestion des utilisateurs</a:t>
            </a:r>
            <a:endParaRPr lang="en-US" sz="1250" dirty="0"/>
          </a:p>
        </p:txBody>
      </p:sp>
      <p:sp>
        <p:nvSpPr>
          <p:cNvPr id="10" name="Text 8"/>
          <p:cNvSpPr/>
          <p:nvPr/>
        </p:nvSpPr>
        <p:spPr>
          <a:xfrm>
            <a:off x="4609490" y="2304288"/>
            <a:ext cx="297271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Authentification JWT, gestion fine des rôles et permissions par module.</a:t>
            </a:r>
            <a:endParaRPr lang="en-US" sz="1000" dirty="0"/>
          </a:p>
        </p:txBody>
      </p:sp>
      <p:sp>
        <p:nvSpPr>
          <p:cNvPr id="11" name="Shape 9"/>
          <p:cNvSpPr/>
          <p:nvPr/>
        </p:nvSpPr>
        <p:spPr>
          <a:xfrm>
            <a:off x="8066837" y="1554480"/>
            <a:ext cx="3301898" cy="2240280"/>
          </a:xfrm>
          <a:prstGeom prst="roundRect">
            <a:avLst>
              <a:gd name="adj" fmla="val 2449"/>
            </a:avLst>
          </a:prstGeom>
          <a:solidFill>
            <a:srgbClr val="F2F2F2"/>
          </a:solidFill>
          <a:ln/>
        </p:spPr>
      </p:sp>
      <p:sp>
        <p:nvSpPr>
          <p:cNvPr id="12" name="Text 10"/>
          <p:cNvSpPr/>
          <p:nvPr/>
        </p:nvSpPr>
        <p:spPr>
          <a:xfrm>
            <a:off x="8231429" y="1645920"/>
            <a:ext cx="297271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03</a:t>
            </a:r>
            <a:endParaRPr lang="en-US" sz="1900" dirty="0"/>
          </a:p>
        </p:txBody>
      </p:sp>
      <p:sp>
        <p:nvSpPr>
          <p:cNvPr id="13" name="Text 11"/>
          <p:cNvSpPr/>
          <p:nvPr/>
        </p:nvSpPr>
        <p:spPr>
          <a:xfrm>
            <a:off x="8231429" y="1993392"/>
            <a:ext cx="297271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Agendas multi-rôles</a:t>
            </a:r>
            <a:endParaRPr lang="en-US" sz="1250" dirty="0"/>
          </a:p>
        </p:txBody>
      </p:sp>
      <p:sp>
        <p:nvSpPr>
          <p:cNvPr id="14" name="Text 12"/>
          <p:cNvSpPr/>
          <p:nvPr/>
        </p:nvSpPr>
        <p:spPr>
          <a:xfrm>
            <a:off x="8231429" y="2304288"/>
            <a:ext cx="297271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Agenda EBI, Client 1, Client 2, Refus et Commercial, synchronisés entre services.</a:t>
            </a:r>
            <a:endParaRPr lang="en-US" sz="1000" dirty="0"/>
          </a:p>
        </p:txBody>
      </p:sp>
      <p:sp>
        <p:nvSpPr>
          <p:cNvPr id="15" name="Shape 13"/>
          <p:cNvSpPr/>
          <p:nvPr/>
        </p:nvSpPr>
        <p:spPr>
          <a:xfrm>
            <a:off x="822960" y="4114800"/>
            <a:ext cx="3301898" cy="2240280"/>
          </a:xfrm>
          <a:prstGeom prst="roundRect">
            <a:avLst>
              <a:gd name="adj" fmla="val 2449"/>
            </a:avLst>
          </a:prstGeom>
          <a:solidFill>
            <a:srgbClr val="F2F2F2"/>
          </a:solidFill>
          <a:ln/>
        </p:spPr>
      </p:sp>
      <p:sp>
        <p:nvSpPr>
          <p:cNvPr id="16" name="Text 14"/>
          <p:cNvSpPr/>
          <p:nvPr/>
        </p:nvSpPr>
        <p:spPr>
          <a:xfrm>
            <a:off x="987552" y="4206240"/>
            <a:ext cx="297271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04</a:t>
            </a:r>
            <a:endParaRPr lang="en-US" sz="1900" dirty="0"/>
          </a:p>
        </p:txBody>
      </p:sp>
      <p:sp>
        <p:nvSpPr>
          <p:cNvPr id="17" name="Text 15"/>
          <p:cNvSpPr/>
          <p:nvPr/>
        </p:nvSpPr>
        <p:spPr>
          <a:xfrm>
            <a:off x="987552" y="4553712"/>
            <a:ext cx="297271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Évaluation qualité</a:t>
            </a:r>
            <a:endParaRPr lang="en-US" sz="1250" dirty="0"/>
          </a:p>
        </p:txBody>
      </p:sp>
      <p:sp>
        <p:nvSpPr>
          <p:cNvPr id="18" name="Text 16"/>
          <p:cNvSpPr/>
          <p:nvPr/>
        </p:nvSpPr>
        <p:spPr>
          <a:xfrm>
            <a:off x="987552" y="4864608"/>
            <a:ext cx="297271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Grille d’évaluation d’appel, scoring, historique consultable par agent.</a:t>
            </a:r>
            <a:endParaRPr lang="en-US" sz="1000" dirty="0"/>
          </a:p>
        </p:txBody>
      </p:sp>
      <p:sp>
        <p:nvSpPr>
          <p:cNvPr id="19" name="Shape 17"/>
          <p:cNvSpPr/>
          <p:nvPr/>
        </p:nvSpPr>
        <p:spPr>
          <a:xfrm>
            <a:off x="4444898" y="4114800"/>
            <a:ext cx="3301898" cy="2240280"/>
          </a:xfrm>
          <a:prstGeom prst="roundRect">
            <a:avLst>
              <a:gd name="adj" fmla="val 2449"/>
            </a:avLst>
          </a:prstGeom>
          <a:solidFill>
            <a:srgbClr val="F2F2F2"/>
          </a:solidFill>
          <a:ln/>
        </p:spPr>
      </p:sp>
      <p:sp>
        <p:nvSpPr>
          <p:cNvPr id="20" name="Text 18"/>
          <p:cNvSpPr/>
          <p:nvPr/>
        </p:nvSpPr>
        <p:spPr>
          <a:xfrm>
            <a:off x="4609490" y="4206240"/>
            <a:ext cx="297271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05</a:t>
            </a:r>
            <a:endParaRPr lang="en-US" sz="1900" dirty="0"/>
          </a:p>
        </p:txBody>
      </p:sp>
      <p:sp>
        <p:nvSpPr>
          <p:cNvPr id="21" name="Text 19"/>
          <p:cNvSpPr/>
          <p:nvPr/>
        </p:nvSpPr>
        <p:spPr>
          <a:xfrm>
            <a:off x="4609490" y="4553712"/>
            <a:ext cx="297271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Messagerie temps réel</a:t>
            </a:r>
            <a:endParaRPr lang="en-US" sz="1250" dirty="0"/>
          </a:p>
        </p:txBody>
      </p:sp>
      <p:sp>
        <p:nvSpPr>
          <p:cNvPr id="22" name="Text 20"/>
          <p:cNvSpPr/>
          <p:nvPr/>
        </p:nvSpPr>
        <p:spPr>
          <a:xfrm>
            <a:off x="4609490" y="4864608"/>
            <a:ext cx="297271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Chat d’équipe via SignalR, canaux dédiés par service.</a:t>
            </a:r>
            <a:endParaRPr lang="en-US" sz="1000" dirty="0"/>
          </a:p>
        </p:txBody>
      </p:sp>
      <p:sp>
        <p:nvSpPr>
          <p:cNvPr id="23" name="Shape 21"/>
          <p:cNvSpPr/>
          <p:nvPr/>
        </p:nvSpPr>
        <p:spPr>
          <a:xfrm>
            <a:off x="8066837" y="4114800"/>
            <a:ext cx="3301898" cy="2240280"/>
          </a:xfrm>
          <a:prstGeom prst="roundRect">
            <a:avLst>
              <a:gd name="adj" fmla="val 2449"/>
            </a:avLst>
          </a:prstGeom>
          <a:solidFill>
            <a:srgbClr val="F2F2F2"/>
          </a:solidFill>
          <a:ln/>
        </p:spPr>
      </p:sp>
      <p:sp>
        <p:nvSpPr>
          <p:cNvPr id="24" name="Text 22"/>
          <p:cNvSpPr/>
          <p:nvPr/>
        </p:nvSpPr>
        <p:spPr>
          <a:xfrm>
            <a:off x="8231429" y="4206240"/>
            <a:ext cx="297271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06</a:t>
            </a:r>
            <a:endParaRPr lang="en-US" sz="1900" dirty="0"/>
          </a:p>
        </p:txBody>
      </p:sp>
      <p:sp>
        <p:nvSpPr>
          <p:cNvPr id="25" name="Text 23"/>
          <p:cNvSpPr/>
          <p:nvPr/>
        </p:nvSpPr>
        <p:spPr>
          <a:xfrm>
            <a:off x="8231429" y="4553712"/>
            <a:ext cx="297271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Analyse IA &amp; Salaire</a:t>
            </a:r>
            <a:endParaRPr lang="en-US" sz="1250" dirty="0"/>
          </a:p>
        </p:txBody>
      </p:sp>
      <p:sp>
        <p:nvSpPr>
          <p:cNvPr id="26" name="Text 24"/>
          <p:cNvSpPr/>
          <p:nvPr/>
        </p:nvSpPr>
        <p:spPr>
          <a:xfrm>
            <a:off x="8231429" y="4864608"/>
            <a:ext cx="297271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Scoring des leads, analyse de transcription d’appel, calcul automatisé du salaire.</a:t>
            </a:r>
            <a:endParaRPr lang="en-US" sz="1000" dirty="0"/>
          </a:p>
        </p:txBody>
      </p:sp>
      <p:sp>
        <p:nvSpPr>
          <p:cNvPr id="27" name="Text 25"/>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15.</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2331720" cy="6858000"/>
          </a:xfrm>
          <a:prstGeom prst="rect">
            <a:avLst/>
          </a:prstGeom>
          <a:solidFill>
            <a:srgbClr val="111111"/>
          </a:solidFill>
          <a:ln/>
        </p:spPr>
      </p:sp>
      <p:sp>
        <p:nvSpPr>
          <p:cNvPr id="3" name="Shape 1"/>
          <p:cNvSpPr/>
          <p:nvPr/>
        </p:nvSpPr>
        <p:spPr>
          <a:xfrm>
            <a:off x="2359152" y="0"/>
            <a:ext cx="2331720" cy="6858000"/>
          </a:xfrm>
          <a:prstGeom prst="rect">
            <a:avLst/>
          </a:prstGeom>
          <a:solidFill>
            <a:srgbClr val="3D53A6"/>
          </a:solidFill>
          <a:ln/>
        </p:spPr>
      </p:sp>
      <p:sp>
        <p:nvSpPr>
          <p:cNvPr id="4" name="Shape 2"/>
          <p:cNvSpPr/>
          <p:nvPr/>
        </p:nvSpPr>
        <p:spPr>
          <a:xfrm>
            <a:off x="4718304" y="0"/>
            <a:ext cx="2331720" cy="6858000"/>
          </a:xfrm>
          <a:prstGeom prst="rect">
            <a:avLst/>
          </a:prstGeom>
          <a:solidFill>
            <a:srgbClr val="B7B7B7"/>
          </a:solidFill>
          <a:ln/>
        </p:spPr>
      </p:sp>
      <p:sp>
        <p:nvSpPr>
          <p:cNvPr id="5" name="Shape 3"/>
          <p:cNvSpPr/>
          <p:nvPr/>
        </p:nvSpPr>
        <p:spPr>
          <a:xfrm>
            <a:off x="201168" y="640080"/>
            <a:ext cx="1929384" cy="1371600"/>
          </a:xfrm>
          <a:prstGeom prst="roundRect">
            <a:avLst>
              <a:gd name="adj" fmla="val 3333"/>
            </a:avLst>
          </a:prstGeom>
          <a:solidFill>
            <a:srgbClr val="3D53A6"/>
          </a:solidFill>
          <a:ln/>
        </p:spPr>
      </p:sp>
      <p:sp>
        <p:nvSpPr>
          <p:cNvPr id="6" name="Text 4"/>
          <p:cNvSpPr/>
          <p:nvPr/>
        </p:nvSpPr>
        <p:spPr>
          <a:xfrm>
            <a:off x="365760" y="768096"/>
            <a:ext cx="1600200" cy="457200"/>
          </a:xfrm>
          <a:prstGeom prst="rect">
            <a:avLst/>
          </a:prstGeom>
          <a:noFill/>
          <a:ln/>
        </p:spPr>
        <p:txBody>
          <a:bodyPr wrap="square" lIns="0" tIns="0" rIns="0" bIns="0" rtlCol="0" anchor="ctr"/>
          <a:lstStyle/>
          <a:p>
            <a:pPr indent="0" marL="0">
              <a:lnSpc>
                <a:spcPts val="1400"/>
              </a:lnSpc>
              <a:buNone/>
            </a:pPr>
            <a:r>
              <a:rPr lang="en-US" sz="1250" b="1" dirty="0">
                <a:solidFill>
                  <a:srgbClr val="FFFFFF"/>
                </a:solidFill>
                <a:latin typeface="Arial" pitchFamily="34" charset="0"/>
                <a:ea typeface="Arial" pitchFamily="34" charset="-122"/>
                <a:cs typeface="Arial" pitchFamily="34" charset="-120"/>
              </a:rPr>
              <a:t>Sécurité</a:t>
            </a:r>
            <a:endParaRPr lang="en-US" sz="1250" dirty="0"/>
          </a:p>
        </p:txBody>
      </p:sp>
      <p:sp>
        <p:nvSpPr>
          <p:cNvPr id="7" name="Text 5"/>
          <p:cNvSpPr/>
          <p:nvPr/>
        </p:nvSpPr>
        <p:spPr>
          <a:xfrm>
            <a:off x="365760" y="1188720"/>
            <a:ext cx="1600200" cy="777240"/>
          </a:xfrm>
          <a:prstGeom prst="rect">
            <a:avLst/>
          </a:prstGeom>
          <a:noFill/>
          <a:ln/>
        </p:spPr>
        <p:txBody>
          <a:bodyPr wrap="square" lIns="0" tIns="0" rIns="0" bIns="0" rtlCol="0" anchor="ctr"/>
          <a:lstStyle/>
          <a:p>
            <a:pPr indent="0" marL="0">
              <a:lnSpc>
                <a:spcPts val="1100"/>
              </a:lnSpc>
              <a:buNone/>
            </a:pPr>
            <a:r>
              <a:rPr lang="en-US" sz="900" dirty="0">
                <a:solidFill>
                  <a:srgbClr val="E8EAF7"/>
                </a:solidFill>
                <a:latin typeface="Arial" pitchFamily="34" charset="0"/>
                <a:ea typeface="Arial" pitchFamily="34" charset="-122"/>
                <a:cs typeface="Arial" pitchFamily="34" charset="-120"/>
              </a:rPr>
              <a:t>Les fiches contacts contiennent des données personnelles clients.</a:t>
            </a:r>
            <a:endParaRPr lang="en-US" sz="900" dirty="0"/>
          </a:p>
        </p:txBody>
      </p:sp>
      <p:sp>
        <p:nvSpPr>
          <p:cNvPr id="8" name="Shape 6"/>
          <p:cNvSpPr/>
          <p:nvPr/>
        </p:nvSpPr>
        <p:spPr>
          <a:xfrm>
            <a:off x="201168" y="2194560"/>
            <a:ext cx="1929384" cy="2103120"/>
          </a:xfrm>
          <a:prstGeom prst="roundRect">
            <a:avLst>
              <a:gd name="adj" fmla="val 2370"/>
            </a:avLst>
          </a:prstGeom>
          <a:solidFill>
            <a:srgbClr val="FFFFFF"/>
          </a:solidFill>
          <a:ln/>
        </p:spPr>
      </p:sp>
      <p:sp>
        <p:nvSpPr>
          <p:cNvPr id="9" name="Text 7"/>
          <p:cNvSpPr/>
          <p:nvPr/>
        </p:nvSpPr>
        <p:spPr>
          <a:xfrm>
            <a:off x="347472" y="2304288"/>
            <a:ext cx="1636776" cy="274320"/>
          </a:xfrm>
          <a:prstGeom prst="rect">
            <a:avLst/>
          </a:prstGeom>
          <a:noFill/>
          <a:ln/>
        </p:spPr>
        <p:txBody>
          <a:bodyPr wrap="square" lIns="0" tIns="0" rIns="0" bIns="0" rtlCol="0" anchor="ctr"/>
          <a:lstStyle/>
          <a:p>
            <a:pPr indent="0" marL="0">
              <a:buNone/>
            </a:pPr>
            <a:r>
              <a:rPr lang="en-US" sz="1050" b="1" dirty="0">
                <a:solidFill>
                  <a:srgbClr val="30459E"/>
                </a:solidFill>
                <a:latin typeface="Arial" pitchFamily="34" charset="0"/>
                <a:ea typeface="Arial" pitchFamily="34" charset="-122"/>
                <a:cs typeface="Arial" pitchFamily="34" charset="-120"/>
              </a:rPr>
              <a:t>Comment ?</a:t>
            </a:r>
            <a:endParaRPr lang="en-US" sz="1050" dirty="0"/>
          </a:p>
        </p:txBody>
      </p:sp>
      <p:sp>
        <p:nvSpPr>
          <p:cNvPr id="10" name="Text 8"/>
          <p:cNvSpPr/>
          <p:nvPr/>
        </p:nvSpPr>
        <p:spPr>
          <a:xfrm>
            <a:off x="347472" y="2606040"/>
            <a:ext cx="1636776" cy="1600200"/>
          </a:xfrm>
          <a:prstGeom prst="rect">
            <a:avLst/>
          </a:prstGeom>
          <a:noFill/>
          <a:ln/>
        </p:spPr>
        <p:txBody>
          <a:bodyPr wrap="square" lIns="0" tIns="0" rIns="0" bIns="0" rtlCol="0" anchor="ctr"/>
          <a:lstStyle/>
          <a:p>
            <a:pPr indent="0" marL="0">
              <a:lnSpc>
                <a:spcPts val="1150"/>
              </a:lnSpc>
              <a:buNone/>
            </a:pPr>
            <a:r>
              <a:rPr lang="en-US" sz="900" dirty="0">
                <a:solidFill>
                  <a:srgbClr val="2A2A2A"/>
                </a:solidFill>
                <a:latin typeface="Arial" pitchFamily="34" charset="0"/>
                <a:ea typeface="Arial" pitchFamily="34" charset="-122"/>
                <a:cs typeface="Arial" pitchFamily="34" charset="-120"/>
              </a:rPr>
              <a:t>JWT Bearer + hachage BCrypt des mots de passe, contrôle d’accès par rôle (RBAC) sur chaque endpoint, communication HTTPS.</a:t>
            </a:r>
            <a:endParaRPr lang="en-US" sz="900" dirty="0"/>
          </a:p>
        </p:txBody>
      </p:sp>
      <p:sp>
        <p:nvSpPr>
          <p:cNvPr id="11" name="Shape 9"/>
          <p:cNvSpPr/>
          <p:nvPr/>
        </p:nvSpPr>
        <p:spPr>
          <a:xfrm>
            <a:off x="2560320" y="1645920"/>
            <a:ext cx="1929384" cy="1371600"/>
          </a:xfrm>
          <a:prstGeom prst="roundRect">
            <a:avLst>
              <a:gd name="adj" fmla="val 3333"/>
            </a:avLst>
          </a:prstGeom>
          <a:solidFill>
            <a:srgbClr val="3D53A6"/>
          </a:solidFill>
          <a:ln/>
        </p:spPr>
      </p:sp>
      <p:sp>
        <p:nvSpPr>
          <p:cNvPr id="12" name="Text 10"/>
          <p:cNvSpPr/>
          <p:nvPr/>
        </p:nvSpPr>
        <p:spPr>
          <a:xfrm>
            <a:off x="2724912" y="1773936"/>
            <a:ext cx="1600200" cy="457200"/>
          </a:xfrm>
          <a:prstGeom prst="rect">
            <a:avLst/>
          </a:prstGeom>
          <a:noFill/>
          <a:ln/>
        </p:spPr>
        <p:txBody>
          <a:bodyPr wrap="square" lIns="0" tIns="0" rIns="0" bIns="0" rtlCol="0" anchor="ctr"/>
          <a:lstStyle/>
          <a:p>
            <a:pPr indent="0" marL="0">
              <a:lnSpc>
                <a:spcPts val="1400"/>
              </a:lnSpc>
              <a:buNone/>
            </a:pPr>
            <a:r>
              <a:rPr lang="en-US" sz="1250" b="1" dirty="0">
                <a:solidFill>
                  <a:srgbClr val="FFFFFF"/>
                </a:solidFill>
                <a:latin typeface="Arial" pitchFamily="34" charset="0"/>
                <a:ea typeface="Arial" pitchFamily="34" charset="-122"/>
                <a:cs typeface="Arial" pitchFamily="34" charset="-120"/>
              </a:rPr>
              <a:t>Disponibilité</a:t>
            </a:r>
            <a:endParaRPr lang="en-US" sz="1250" dirty="0"/>
          </a:p>
        </p:txBody>
      </p:sp>
      <p:sp>
        <p:nvSpPr>
          <p:cNvPr id="13" name="Text 11"/>
          <p:cNvSpPr/>
          <p:nvPr/>
        </p:nvSpPr>
        <p:spPr>
          <a:xfrm>
            <a:off x="2724912" y="2194560"/>
            <a:ext cx="1600200" cy="777240"/>
          </a:xfrm>
          <a:prstGeom prst="rect">
            <a:avLst/>
          </a:prstGeom>
          <a:noFill/>
          <a:ln/>
        </p:spPr>
        <p:txBody>
          <a:bodyPr wrap="square" lIns="0" tIns="0" rIns="0" bIns="0" rtlCol="0" anchor="ctr"/>
          <a:lstStyle/>
          <a:p>
            <a:pPr indent="0" marL="0">
              <a:lnSpc>
                <a:spcPts val="1100"/>
              </a:lnSpc>
              <a:buNone/>
            </a:pPr>
            <a:r>
              <a:rPr lang="en-US" sz="900" dirty="0">
                <a:solidFill>
                  <a:srgbClr val="E8EAF7"/>
                </a:solidFill>
                <a:latin typeface="Arial" pitchFamily="34" charset="0"/>
                <a:ea typeface="Arial" pitchFamily="34" charset="-122"/>
                <a:cs typeface="Arial" pitchFamily="34" charset="-120"/>
              </a:rPr>
              <a:t>Un centre d’appels dépend d’un accès continu au CRM pendant les heures d’ouverture.</a:t>
            </a:r>
            <a:endParaRPr lang="en-US" sz="900" dirty="0"/>
          </a:p>
        </p:txBody>
      </p:sp>
      <p:sp>
        <p:nvSpPr>
          <p:cNvPr id="14" name="Shape 12"/>
          <p:cNvSpPr/>
          <p:nvPr/>
        </p:nvSpPr>
        <p:spPr>
          <a:xfrm>
            <a:off x="2560320" y="3200400"/>
            <a:ext cx="1929384" cy="2103120"/>
          </a:xfrm>
          <a:prstGeom prst="roundRect">
            <a:avLst>
              <a:gd name="adj" fmla="val 2370"/>
            </a:avLst>
          </a:prstGeom>
          <a:solidFill>
            <a:srgbClr val="FFFFFF"/>
          </a:solidFill>
          <a:ln/>
        </p:spPr>
      </p:sp>
      <p:sp>
        <p:nvSpPr>
          <p:cNvPr id="15" name="Text 13"/>
          <p:cNvSpPr/>
          <p:nvPr/>
        </p:nvSpPr>
        <p:spPr>
          <a:xfrm>
            <a:off x="2706624" y="3310128"/>
            <a:ext cx="1636776" cy="274320"/>
          </a:xfrm>
          <a:prstGeom prst="rect">
            <a:avLst/>
          </a:prstGeom>
          <a:noFill/>
          <a:ln/>
        </p:spPr>
        <p:txBody>
          <a:bodyPr wrap="square" lIns="0" tIns="0" rIns="0" bIns="0" rtlCol="0" anchor="ctr"/>
          <a:lstStyle/>
          <a:p>
            <a:pPr indent="0" marL="0">
              <a:buNone/>
            </a:pPr>
            <a:r>
              <a:rPr lang="en-US" sz="1050" b="1" dirty="0">
                <a:solidFill>
                  <a:srgbClr val="30459E"/>
                </a:solidFill>
                <a:latin typeface="Arial" pitchFamily="34" charset="0"/>
                <a:ea typeface="Arial" pitchFamily="34" charset="-122"/>
                <a:cs typeface="Arial" pitchFamily="34" charset="-120"/>
              </a:rPr>
              <a:t>Comment ?</a:t>
            </a:r>
            <a:endParaRPr lang="en-US" sz="1050" dirty="0"/>
          </a:p>
        </p:txBody>
      </p:sp>
      <p:sp>
        <p:nvSpPr>
          <p:cNvPr id="16" name="Text 14"/>
          <p:cNvSpPr/>
          <p:nvPr/>
        </p:nvSpPr>
        <p:spPr>
          <a:xfrm>
            <a:off x="2706624" y="3611880"/>
            <a:ext cx="1636776" cy="1600200"/>
          </a:xfrm>
          <a:prstGeom prst="rect">
            <a:avLst/>
          </a:prstGeom>
          <a:noFill/>
          <a:ln/>
        </p:spPr>
        <p:txBody>
          <a:bodyPr wrap="square" lIns="0" tIns="0" rIns="0" bIns="0" rtlCol="0" anchor="ctr"/>
          <a:lstStyle/>
          <a:p>
            <a:pPr indent="0" marL="0">
              <a:lnSpc>
                <a:spcPts val="1150"/>
              </a:lnSpc>
              <a:buNone/>
            </a:pPr>
            <a:r>
              <a:rPr lang="en-US" sz="900" dirty="0">
                <a:solidFill>
                  <a:srgbClr val="2A2A2A"/>
                </a:solidFill>
                <a:latin typeface="Arial" pitchFamily="34" charset="0"/>
                <a:ea typeface="Arial" pitchFamily="34" charset="-122"/>
                <a:cs typeface="Arial" pitchFamily="34" charset="-120"/>
              </a:rPr>
              <a:t>Architecture découplée (API .NET, service IA Python, base de données), reconnexion automatique du chat temps réel, repli heuristique si le service IA est indisponible.</a:t>
            </a:r>
            <a:endParaRPr lang="en-US" sz="900" dirty="0"/>
          </a:p>
        </p:txBody>
      </p:sp>
      <p:sp>
        <p:nvSpPr>
          <p:cNvPr id="17" name="Shape 15"/>
          <p:cNvSpPr/>
          <p:nvPr/>
        </p:nvSpPr>
        <p:spPr>
          <a:xfrm>
            <a:off x="4919472" y="2651760"/>
            <a:ext cx="1929384" cy="1371600"/>
          </a:xfrm>
          <a:prstGeom prst="roundRect">
            <a:avLst>
              <a:gd name="adj" fmla="val 3333"/>
            </a:avLst>
          </a:prstGeom>
          <a:solidFill>
            <a:srgbClr val="3D53A6"/>
          </a:solidFill>
          <a:ln/>
        </p:spPr>
      </p:sp>
      <p:sp>
        <p:nvSpPr>
          <p:cNvPr id="18" name="Text 16"/>
          <p:cNvSpPr/>
          <p:nvPr/>
        </p:nvSpPr>
        <p:spPr>
          <a:xfrm>
            <a:off x="5084064" y="2779776"/>
            <a:ext cx="1600200" cy="457200"/>
          </a:xfrm>
          <a:prstGeom prst="rect">
            <a:avLst/>
          </a:prstGeom>
          <a:noFill/>
          <a:ln/>
        </p:spPr>
        <p:txBody>
          <a:bodyPr wrap="square" lIns="0" tIns="0" rIns="0" bIns="0" rtlCol="0" anchor="ctr"/>
          <a:lstStyle/>
          <a:p>
            <a:pPr indent="0" marL="0">
              <a:lnSpc>
                <a:spcPts val="1400"/>
              </a:lnSpc>
              <a:buNone/>
            </a:pPr>
            <a:r>
              <a:rPr lang="en-US" sz="1250" b="1" dirty="0">
                <a:solidFill>
                  <a:srgbClr val="FFFFFF"/>
                </a:solidFill>
                <a:latin typeface="Arial" pitchFamily="34" charset="0"/>
                <a:ea typeface="Arial" pitchFamily="34" charset="-122"/>
                <a:cs typeface="Arial" pitchFamily="34" charset="-120"/>
              </a:rPr>
              <a:t>Traçabilité</a:t>
            </a:r>
            <a:endParaRPr lang="en-US" sz="1250" dirty="0"/>
          </a:p>
        </p:txBody>
      </p:sp>
      <p:sp>
        <p:nvSpPr>
          <p:cNvPr id="19" name="Text 17"/>
          <p:cNvSpPr/>
          <p:nvPr/>
        </p:nvSpPr>
        <p:spPr>
          <a:xfrm>
            <a:off x="5084064" y="3200400"/>
            <a:ext cx="1600200" cy="777240"/>
          </a:xfrm>
          <a:prstGeom prst="rect">
            <a:avLst/>
          </a:prstGeom>
          <a:noFill/>
          <a:ln/>
        </p:spPr>
        <p:txBody>
          <a:bodyPr wrap="square" lIns="0" tIns="0" rIns="0" bIns="0" rtlCol="0" anchor="ctr"/>
          <a:lstStyle/>
          <a:p>
            <a:pPr indent="0" marL="0">
              <a:lnSpc>
                <a:spcPts val="1100"/>
              </a:lnSpc>
              <a:buNone/>
            </a:pPr>
            <a:r>
              <a:rPr lang="en-US" sz="900" dirty="0">
                <a:solidFill>
                  <a:srgbClr val="E8EAF7"/>
                </a:solidFill>
                <a:latin typeface="Arial" pitchFamily="34" charset="0"/>
                <a:ea typeface="Arial" pitchFamily="34" charset="-122"/>
                <a:cs typeface="Arial" pitchFamily="34" charset="-120"/>
              </a:rPr>
              <a:t>Chaque action (appel, RDV, évaluation) doit pouvoir être auditée a posteriori.</a:t>
            </a:r>
            <a:endParaRPr lang="en-US" sz="900" dirty="0"/>
          </a:p>
        </p:txBody>
      </p:sp>
      <p:sp>
        <p:nvSpPr>
          <p:cNvPr id="20" name="Shape 18"/>
          <p:cNvSpPr/>
          <p:nvPr/>
        </p:nvSpPr>
        <p:spPr>
          <a:xfrm>
            <a:off x="4919472" y="4206240"/>
            <a:ext cx="1929384" cy="2103120"/>
          </a:xfrm>
          <a:prstGeom prst="roundRect">
            <a:avLst>
              <a:gd name="adj" fmla="val 2370"/>
            </a:avLst>
          </a:prstGeom>
          <a:solidFill>
            <a:srgbClr val="FFFFFF"/>
          </a:solidFill>
          <a:ln/>
        </p:spPr>
      </p:sp>
      <p:sp>
        <p:nvSpPr>
          <p:cNvPr id="21" name="Text 19"/>
          <p:cNvSpPr/>
          <p:nvPr/>
        </p:nvSpPr>
        <p:spPr>
          <a:xfrm>
            <a:off x="5065776" y="4315968"/>
            <a:ext cx="1636776" cy="274320"/>
          </a:xfrm>
          <a:prstGeom prst="rect">
            <a:avLst/>
          </a:prstGeom>
          <a:noFill/>
          <a:ln/>
        </p:spPr>
        <p:txBody>
          <a:bodyPr wrap="square" lIns="0" tIns="0" rIns="0" bIns="0" rtlCol="0" anchor="ctr"/>
          <a:lstStyle/>
          <a:p>
            <a:pPr indent="0" marL="0">
              <a:buNone/>
            </a:pPr>
            <a:r>
              <a:rPr lang="en-US" sz="1050" b="1" dirty="0">
                <a:solidFill>
                  <a:srgbClr val="30459E"/>
                </a:solidFill>
                <a:latin typeface="Arial" pitchFamily="34" charset="0"/>
                <a:ea typeface="Arial" pitchFamily="34" charset="-122"/>
                <a:cs typeface="Arial" pitchFamily="34" charset="-120"/>
              </a:rPr>
              <a:t>Comment ?</a:t>
            </a:r>
            <a:endParaRPr lang="en-US" sz="1050" dirty="0"/>
          </a:p>
        </p:txBody>
      </p:sp>
      <p:sp>
        <p:nvSpPr>
          <p:cNvPr id="22" name="Text 20"/>
          <p:cNvSpPr/>
          <p:nvPr/>
        </p:nvSpPr>
        <p:spPr>
          <a:xfrm>
            <a:off x="5065776" y="4617720"/>
            <a:ext cx="1636776" cy="1600200"/>
          </a:xfrm>
          <a:prstGeom prst="rect">
            <a:avLst/>
          </a:prstGeom>
          <a:noFill/>
          <a:ln/>
        </p:spPr>
        <p:txBody>
          <a:bodyPr wrap="square" lIns="0" tIns="0" rIns="0" bIns="0" rtlCol="0" anchor="ctr"/>
          <a:lstStyle/>
          <a:p>
            <a:pPr indent="0" marL="0">
              <a:lnSpc>
                <a:spcPts val="1150"/>
              </a:lnSpc>
              <a:buNone/>
            </a:pPr>
            <a:r>
              <a:rPr lang="en-US" sz="900" dirty="0">
                <a:solidFill>
                  <a:srgbClr val="2A2A2A"/>
                </a:solidFill>
                <a:latin typeface="Arial" pitchFamily="34" charset="0"/>
                <a:ea typeface="Arial" pitchFamily="34" charset="-122"/>
                <a:cs typeface="Arial" pitchFamily="34" charset="-120"/>
              </a:rPr>
              <a:t>Horodatage systématique des appels et rendez-vous, conservation du statut agent par contact, historique des évaluations et des messages d’équipe.</a:t>
            </a:r>
            <a:endParaRPr lang="en-US" sz="900" dirty="0"/>
          </a:p>
        </p:txBody>
      </p:sp>
      <p:sp>
        <p:nvSpPr>
          <p:cNvPr id="23" name="Text 21"/>
          <p:cNvSpPr/>
          <p:nvPr/>
        </p:nvSpPr>
        <p:spPr>
          <a:xfrm>
            <a:off x="7415784" y="640080"/>
            <a:ext cx="4227271" cy="1280160"/>
          </a:xfrm>
          <a:prstGeom prst="rect">
            <a:avLst/>
          </a:prstGeom>
          <a:noFill/>
          <a:ln/>
        </p:spPr>
        <p:txBody>
          <a:bodyPr wrap="square" lIns="0" tIns="0" rIns="0" bIns="0" rtlCol="0" anchor="ctr"/>
          <a:lstStyle/>
          <a:p>
            <a:pPr indent="0" marL="0">
              <a:lnSpc>
                <a:spcPts val="3300"/>
              </a:lnSpc>
              <a:buNone/>
            </a:pPr>
            <a:r>
              <a:rPr lang="en-US" sz="3000" b="1" dirty="0">
                <a:solidFill>
                  <a:srgbClr val="111111"/>
                </a:solidFill>
                <a:latin typeface="Arial" pitchFamily="34" charset="0"/>
                <a:ea typeface="Arial" pitchFamily="34" charset="-122"/>
                <a:cs typeface="Arial" pitchFamily="34" charset="-120"/>
              </a:rPr>
              <a:t>Besoins non fonctionnels</a:t>
            </a:r>
            <a:endParaRPr lang="en-US" sz="3000" dirty="0"/>
          </a:p>
        </p:txBody>
      </p:sp>
      <p:sp>
        <p:nvSpPr>
          <p:cNvPr id="24" name="Text 22"/>
          <p:cNvSpPr/>
          <p:nvPr/>
        </p:nvSpPr>
        <p:spPr>
          <a:xfrm>
            <a:off x="7415784" y="1965960"/>
            <a:ext cx="4227271" cy="2011680"/>
          </a:xfrm>
          <a:prstGeom prst="rect">
            <a:avLst/>
          </a:prstGeom>
          <a:noFill/>
          <a:ln/>
        </p:spPr>
        <p:txBody>
          <a:bodyPr wrap="square" lIns="0" tIns="0" rIns="0" bIns="0"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Trois exigences jugées critiques pour un CRM de centre d’appels : la sécurité des données clients, la disponibilité du service pendant les heures d’ouverture, et la traçabilité de chaque action effectuée sur la plateforme.</a:t>
            </a:r>
            <a:endParaRPr lang="en-US" sz="1250" dirty="0"/>
          </a:p>
        </p:txBody>
      </p:sp>
      <p:sp>
        <p:nvSpPr>
          <p:cNvPr id="25" name="Shape 23"/>
          <p:cNvSpPr/>
          <p:nvPr/>
        </p:nvSpPr>
        <p:spPr>
          <a:xfrm>
            <a:off x="7415784" y="5943600"/>
            <a:ext cx="2194560" cy="0"/>
          </a:xfrm>
          <a:prstGeom prst="line">
            <a:avLst/>
          </a:prstGeom>
          <a:noFill/>
          <a:ln w="25400">
            <a:solidFill>
              <a:srgbClr val="30459E"/>
            </a:solidFill>
            <a:prstDash val="solid"/>
          </a:ln>
        </p:spPr>
      </p:sp>
      <p:sp>
        <p:nvSpPr>
          <p:cNvPr id="26" name="Text 24"/>
          <p:cNvSpPr/>
          <p:nvPr/>
        </p:nvSpPr>
        <p:spPr>
          <a:xfrm>
            <a:off x="228600" y="635508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16.</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06</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Conception &amp; architecture</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Acteurs, cas d'utilisation et architecture du système</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17.</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Identification des acteurs</a:t>
            </a:r>
            <a:endParaRPr lang="en-US" sz="3000" dirty="0"/>
          </a:p>
        </p:txBody>
      </p:sp>
      <p:sp>
        <p:nvSpPr>
          <p:cNvPr id="3" name="Shape 1"/>
          <p:cNvSpPr/>
          <p:nvPr/>
        </p:nvSpPr>
        <p:spPr>
          <a:xfrm>
            <a:off x="822960" y="1554480"/>
            <a:ext cx="2396414" cy="2240280"/>
          </a:xfrm>
          <a:prstGeom prst="roundRect">
            <a:avLst>
              <a:gd name="adj" fmla="val 2449"/>
            </a:avLst>
          </a:prstGeom>
          <a:solidFill>
            <a:srgbClr val="F2F2F2"/>
          </a:solidFill>
          <a:ln/>
        </p:spPr>
      </p:sp>
      <p:sp>
        <p:nvSpPr>
          <p:cNvPr id="4" name="Text 2"/>
          <p:cNvSpPr/>
          <p:nvPr/>
        </p:nvSpPr>
        <p:spPr>
          <a:xfrm>
            <a:off x="987552" y="164592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S</a:t>
            </a:r>
            <a:endParaRPr lang="en-US" sz="1900" dirty="0"/>
          </a:p>
        </p:txBody>
      </p:sp>
      <p:sp>
        <p:nvSpPr>
          <p:cNvPr id="5" name="Text 3"/>
          <p:cNvSpPr/>
          <p:nvPr/>
        </p:nvSpPr>
        <p:spPr>
          <a:xfrm>
            <a:off x="987552" y="199339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SuperAdmin</a:t>
            </a:r>
            <a:endParaRPr lang="en-US" sz="1250" dirty="0"/>
          </a:p>
        </p:txBody>
      </p:sp>
      <p:sp>
        <p:nvSpPr>
          <p:cNvPr id="6" name="Text 4"/>
          <p:cNvSpPr/>
          <p:nvPr/>
        </p:nvSpPr>
        <p:spPr>
          <a:xfrm>
            <a:off x="987552" y="230428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Supervision globale : utilisateurs, permissions, paramétrage plateforme.</a:t>
            </a:r>
            <a:endParaRPr lang="en-US" sz="1000" dirty="0"/>
          </a:p>
        </p:txBody>
      </p:sp>
      <p:sp>
        <p:nvSpPr>
          <p:cNvPr id="7" name="Shape 5"/>
          <p:cNvSpPr/>
          <p:nvPr/>
        </p:nvSpPr>
        <p:spPr>
          <a:xfrm>
            <a:off x="3539414" y="1554480"/>
            <a:ext cx="2396414" cy="2240280"/>
          </a:xfrm>
          <a:prstGeom prst="roundRect">
            <a:avLst>
              <a:gd name="adj" fmla="val 2449"/>
            </a:avLst>
          </a:prstGeom>
          <a:solidFill>
            <a:srgbClr val="F2F2F2"/>
          </a:solidFill>
          <a:ln/>
        </p:spPr>
      </p:sp>
      <p:sp>
        <p:nvSpPr>
          <p:cNvPr id="8" name="Text 6"/>
          <p:cNvSpPr/>
          <p:nvPr/>
        </p:nvSpPr>
        <p:spPr>
          <a:xfrm>
            <a:off x="3704006" y="164592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A</a:t>
            </a:r>
            <a:endParaRPr lang="en-US" sz="1900" dirty="0"/>
          </a:p>
        </p:txBody>
      </p:sp>
      <p:sp>
        <p:nvSpPr>
          <p:cNvPr id="9" name="Text 7"/>
          <p:cNvSpPr/>
          <p:nvPr/>
        </p:nvSpPr>
        <p:spPr>
          <a:xfrm>
            <a:off x="3704006" y="199339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Admin</a:t>
            </a:r>
            <a:endParaRPr lang="en-US" sz="1250" dirty="0"/>
          </a:p>
        </p:txBody>
      </p:sp>
      <p:sp>
        <p:nvSpPr>
          <p:cNvPr id="10" name="Text 8"/>
          <p:cNvSpPr/>
          <p:nvPr/>
        </p:nvSpPr>
        <p:spPr>
          <a:xfrm>
            <a:off x="3704006" y="230428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Gestion opérationnelle : utilisateurs, contacts, imports, sans permissions système.</a:t>
            </a:r>
            <a:endParaRPr lang="en-US" sz="1000" dirty="0"/>
          </a:p>
        </p:txBody>
      </p:sp>
      <p:sp>
        <p:nvSpPr>
          <p:cNvPr id="11" name="Shape 9"/>
          <p:cNvSpPr/>
          <p:nvPr/>
        </p:nvSpPr>
        <p:spPr>
          <a:xfrm>
            <a:off x="6255868" y="1554480"/>
            <a:ext cx="2396414" cy="2240280"/>
          </a:xfrm>
          <a:prstGeom prst="roundRect">
            <a:avLst>
              <a:gd name="adj" fmla="val 2449"/>
            </a:avLst>
          </a:prstGeom>
          <a:solidFill>
            <a:srgbClr val="F2F2F2"/>
          </a:solidFill>
          <a:ln/>
        </p:spPr>
      </p:sp>
      <p:sp>
        <p:nvSpPr>
          <p:cNvPr id="12" name="Text 10"/>
          <p:cNvSpPr/>
          <p:nvPr/>
        </p:nvSpPr>
        <p:spPr>
          <a:xfrm>
            <a:off x="6420460" y="164592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A</a:t>
            </a:r>
            <a:endParaRPr lang="en-US" sz="1900" dirty="0"/>
          </a:p>
        </p:txBody>
      </p:sp>
      <p:sp>
        <p:nvSpPr>
          <p:cNvPr id="13" name="Text 11"/>
          <p:cNvSpPr/>
          <p:nvPr/>
        </p:nvSpPr>
        <p:spPr>
          <a:xfrm>
            <a:off x="6420460" y="199339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Agent</a:t>
            </a:r>
            <a:endParaRPr lang="en-US" sz="1250" dirty="0"/>
          </a:p>
        </p:txBody>
      </p:sp>
      <p:sp>
        <p:nvSpPr>
          <p:cNvPr id="14" name="Text 12"/>
          <p:cNvSpPr/>
          <p:nvPr/>
        </p:nvSpPr>
        <p:spPr>
          <a:xfrm>
            <a:off x="6420460" y="230428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Passe les appels, qualifie les contacts, prend les rendez-vous.</a:t>
            </a:r>
            <a:endParaRPr lang="en-US" sz="1000" dirty="0"/>
          </a:p>
        </p:txBody>
      </p:sp>
      <p:sp>
        <p:nvSpPr>
          <p:cNvPr id="15" name="Shape 13"/>
          <p:cNvSpPr/>
          <p:nvPr/>
        </p:nvSpPr>
        <p:spPr>
          <a:xfrm>
            <a:off x="8972321" y="1554480"/>
            <a:ext cx="2396414" cy="2240280"/>
          </a:xfrm>
          <a:prstGeom prst="roundRect">
            <a:avLst>
              <a:gd name="adj" fmla="val 2449"/>
            </a:avLst>
          </a:prstGeom>
          <a:solidFill>
            <a:srgbClr val="F2F2F2"/>
          </a:solidFill>
          <a:ln/>
        </p:spPr>
      </p:sp>
      <p:sp>
        <p:nvSpPr>
          <p:cNvPr id="16" name="Text 14"/>
          <p:cNvSpPr/>
          <p:nvPr/>
        </p:nvSpPr>
        <p:spPr>
          <a:xfrm>
            <a:off x="9136913" y="164592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C</a:t>
            </a:r>
            <a:endParaRPr lang="en-US" sz="1900" dirty="0"/>
          </a:p>
        </p:txBody>
      </p:sp>
      <p:sp>
        <p:nvSpPr>
          <p:cNvPr id="17" name="Text 15"/>
          <p:cNvSpPr/>
          <p:nvPr/>
        </p:nvSpPr>
        <p:spPr>
          <a:xfrm>
            <a:off x="9136913" y="199339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Confirmatrice</a:t>
            </a:r>
            <a:endParaRPr lang="en-US" sz="1250" dirty="0"/>
          </a:p>
        </p:txBody>
      </p:sp>
      <p:sp>
        <p:nvSpPr>
          <p:cNvPr id="18" name="Text 16"/>
          <p:cNvSpPr/>
          <p:nvPr/>
        </p:nvSpPr>
        <p:spPr>
          <a:xfrm>
            <a:off x="9136913" y="230428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Confirme les RDV via les agendas EBI / Client 1 / Client 2 / Refus.</a:t>
            </a:r>
            <a:endParaRPr lang="en-US" sz="1000" dirty="0"/>
          </a:p>
        </p:txBody>
      </p:sp>
      <p:sp>
        <p:nvSpPr>
          <p:cNvPr id="19" name="Shape 17"/>
          <p:cNvSpPr/>
          <p:nvPr/>
        </p:nvSpPr>
        <p:spPr>
          <a:xfrm>
            <a:off x="822960" y="4114800"/>
            <a:ext cx="2396414" cy="2240280"/>
          </a:xfrm>
          <a:prstGeom prst="roundRect">
            <a:avLst>
              <a:gd name="adj" fmla="val 2449"/>
            </a:avLst>
          </a:prstGeom>
          <a:solidFill>
            <a:srgbClr val="F2F2F2"/>
          </a:solidFill>
          <a:ln/>
        </p:spPr>
      </p:sp>
      <p:sp>
        <p:nvSpPr>
          <p:cNvPr id="20" name="Text 18"/>
          <p:cNvSpPr/>
          <p:nvPr/>
        </p:nvSpPr>
        <p:spPr>
          <a:xfrm>
            <a:off x="987552" y="420624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C</a:t>
            </a:r>
            <a:endParaRPr lang="en-US" sz="1900" dirty="0"/>
          </a:p>
        </p:txBody>
      </p:sp>
      <p:sp>
        <p:nvSpPr>
          <p:cNvPr id="21" name="Text 19"/>
          <p:cNvSpPr/>
          <p:nvPr/>
        </p:nvSpPr>
        <p:spPr>
          <a:xfrm>
            <a:off x="987552" y="455371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Confirmatrice Client</a:t>
            </a:r>
            <a:endParaRPr lang="en-US" sz="1250" dirty="0"/>
          </a:p>
        </p:txBody>
      </p:sp>
      <p:sp>
        <p:nvSpPr>
          <p:cNvPr id="22" name="Text 20"/>
          <p:cNvSpPr/>
          <p:nvPr/>
        </p:nvSpPr>
        <p:spPr>
          <a:xfrm>
            <a:off x="987552" y="486460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Confirmation finale côté client et attribution aux commerciaux.</a:t>
            </a:r>
            <a:endParaRPr lang="en-US" sz="1000" dirty="0"/>
          </a:p>
        </p:txBody>
      </p:sp>
      <p:sp>
        <p:nvSpPr>
          <p:cNvPr id="23" name="Shape 21"/>
          <p:cNvSpPr/>
          <p:nvPr/>
        </p:nvSpPr>
        <p:spPr>
          <a:xfrm>
            <a:off x="3539414" y="4114800"/>
            <a:ext cx="2396414" cy="2240280"/>
          </a:xfrm>
          <a:prstGeom prst="roundRect">
            <a:avLst>
              <a:gd name="adj" fmla="val 2449"/>
            </a:avLst>
          </a:prstGeom>
          <a:solidFill>
            <a:srgbClr val="F2F2F2"/>
          </a:solidFill>
          <a:ln/>
        </p:spPr>
      </p:sp>
      <p:sp>
        <p:nvSpPr>
          <p:cNvPr id="24" name="Text 22"/>
          <p:cNvSpPr/>
          <p:nvPr/>
        </p:nvSpPr>
        <p:spPr>
          <a:xfrm>
            <a:off x="3704006" y="420624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C</a:t>
            </a:r>
            <a:endParaRPr lang="en-US" sz="1900" dirty="0"/>
          </a:p>
        </p:txBody>
      </p:sp>
      <p:sp>
        <p:nvSpPr>
          <p:cNvPr id="25" name="Text 23"/>
          <p:cNvSpPr/>
          <p:nvPr/>
        </p:nvSpPr>
        <p:spPr>
          <a:xfrm>
            <a:off x="3704006" y="455371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Commercial</a:t>
            </a:r>
            <a:endParaRPr lang="en-US" sz="1250" dirty="0"/>
          </a:p>
        </p:txBody>
      </p:sp>
      <p:sp>
        <p:nvSpPr>
          <p:cNvPr id="26" name="Text 24"/>
          <p:cNvSpPr/>
          <p:nvPr/>
        </p:nvSpPr>
        <p:spPr>
          <a:xfrm>
            <a:off x="3704006" y="486460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Assure le suivi terrain des rendez-vous confirmés qui lui sont assignés.</a:t>
            </a:r>
            <a:endParaRPr lang="en-US" sz="1000" dirty="0"/>
          </a:p>
        </p:txBody>
      </p:sp>
      <p:sp>
        <p:nvSpPr>
          <p:cNvPr id="27" name="Shape 25"/>
          <p:cNvSpPr/>
          <p:nvPr/>
        </p:nvSpPr>
        <p:spPr>
          <a:xfrm>
            <a:off x="6255868" y="4114800"/>
            <a:ext cx="2396414" cy="2240280"/>
          </a:xfrm>
          <a:prstGeom prst="roundRect">
            <a:avLst>
              <a:gd name="adj" fmla="val 2449"/>
            </a:avLst>
          </a:prstGeom>
          <a:solidFill>
            <a:srgbClr val="F2F2F2"/>
          </a:solidFill>
          <a:ln/>
        </p:spPr>
      </p:sp>
      <p:sp>
        <p:nvSpPr>
          <p:cNvPr id="28" name="Text 26"/>
          <p:cNvSpPr/>
          <p:nvPr/>
        </p:nvSpPr>
        <p:spPr>
          <a:xfrm>
            <a:off x="6420460" y="420624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S</a:t>
            </a:r>
            <a:endParaRPr lang="en-US" sz="1900" dirty="0"/>
          </a:p>
        </p:txBody>
      </p:sp>
      <p:sp>
        <p:nvSpPr>
          <p:cNvPr id="29" name="Text 27"/>
          <p:cNvSpPr/>
          <p:nvPr/>
        </p:nvSpPr>
        <p:spPr>
          <a:xfrm>
            <a:off x="6420460" y="455371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Service Qualité</a:t>
            </a:r>
            <a:endParaRPr lang="en-US" sz="1250" dirty="0"/>
          </a:p>
        </p:txBody>
      </p:sp>
      <p:sp>
        <p:nvSpPr>
          <p:cNvPr id="30" name="Text 28"/>
          <p:cNvSpPr/>
          <p:nvPr/>
        </p:nvSpPr>
        <p:spPr>
          <a:xfrm>
            <a:off x="6420460" y="486460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Évalue les appels des agents et consulte l’historique des évaluations.</a:t>
            </a:r>
            <a:endParaRPr lang="en-US" sz="1000" dirty="0"/>
          </a:p>
        </p:txBody>
      </p:sp>
      <p:sp>
        <p:nvSpPr>
          <p:cNvPr id="31" name="Shape 29"/>
          <p:cNvSpPr/>
          <p:nvPr/>
        </p:nvSpPr>
        <p:spPr>
          <a:xfrm>
            <a:off x="8972321" y="4114800"/>
            <a:ext cx="2396414" cy="2240280"/>
          </a:xfrm>
          <a:prstGeom prst="roundRect">
            <a:avLst>
              <a:gd name="adj" fmla="val 2449"/>
            </a:avLst>
          </a:prstGeom>
          <a:solidFill>
            <a:srgbClr val="F2F2F2"/>
          </a:solidFill>
          <a:ln/>
        </p:spPr>
      </p:sp>
      <p:sp>
        <p:nvSpPr>
          <p:cNvPr id="32" name="Text 30"/>
          <p:cNvSpPr/>
          <p:nvPr/>
        </p:nvSpPr>
        <p:spPr>
          <a:xfrm>
            <a:off x="9136913" y="4206240"/>
            <a:ext cx="2067230"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S</a:t>
            </a:r>
            <a:endParaRPr lang="en-US" sz="1900" dirty="0"/>
          </a:p>
        </p:txBody>
      </p:sp>
      <p:sp>
        <p:nvSpPr>
          <p:cNvPr id="33" name="Text 31"/>
          <p:cNvSpPr/>
          <p:nvPr/>
        </p:nvSpPr>
        <p:spPr>
          <a:xfrm>
            <a:off x="9136913" y="4553712"/>
            <a:ext cx="2067230"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Service Technique</a:t>
            </a:r>
            <a:endParaRPr lang="en-US" sz="1250" dirty="0"/>
          </a:p>
        </p:txBody>
      </p:sp>
      <p:sp>
        <p:nvSpPr>
          <p:cNvPr id="34" name="Text 32"/>
          <p:cNvSpPr/>
          <p:nvPr/>
        </p:nvSpPr>
        <p:spPr>
          <a:xfrm>
            <a:off x="9136913" y="4864608"/>
            <a:ext cx="2067230"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Gère les accès, supervise les agents et la plateforme au quotidien.</a:t>
            </a:r>
            <a:endParaRPr lang="en-US" sz="1000" dirty="0"/>
          </a:p>
        </p:txBody>
      </p:sp>
      <p:sp>
        <p:nvSpPr>
          <p:cNvPr id="35" name="Text 3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18.</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365760"/>
            <a:ext cx="27432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6.2</a:t>
            </a:r>
            <a:endParaRPr lang="en-US" sz="1300" dirty="0"/>
          </a:p>
        </p:txBody>
      </p:sp>
      <p:sp>
        <p:nvSpPr>
          <p:cNvPr id="3" name="Text 1"/>
          <p:cNvSpPr/>
          <p:nvPr/>
        </p:nvSpPr>
        <p:spPr>
          <a:xfrm>
            <a:off x="822960" y="658368"/>
            <a:ext cx="960120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Cas d’utilisation — partie 1</a:t>
            </a:r>
            <a:endParaRPr lang="en-US" sz="2600" dirty="0"/>
          </a:p>
        </p:txBody>
      </p:sp>
      <p:sp>
        <p:nvSpPr>
          <p:cNvPr id="4" name="Text 2"/>
          <p:cNvSpPr/>
          <p:nvPr/>
        </p:nvSpPr>
        <p:spPr>
          <a:xfrm>
            <a:off x="822960" y="1170432"/>
            <a:ext cx="10424160" cy="457200"/>
          </a:xfrm>
          <a:prstGeom prst="rect">
            <a:avLst/>
          </a:prstGeom>
          <a:noFill/>
          <a:ln/>
        </p:spPr>
        <p:txBody>
          <a:bodyPr wrap="square" lIns="0" tIns="0" rIns="0" bIns="0" rtlCol="0" anchor="ctr"/>
          <a:lstStyle/>
          <a:p>
            <a:pPr indent="0" marL="0">
              <a:lnSpc>
                <a:spcPts val="1400"/>
              </a:lnSpc>
              <a:buNone/>
            </a:pPr>
            <a:r>
              <a:rPr lang="en-US" sz="1150" dirty="0">
                <a:solidFill>
                  <a:srgbClr val="4A4A4A"/>
                </a:solidFill>
                <a:latin typeface="Arial" pitchFamily="34" charset="0"/>
                <a:ea typeface="Arial" pitchFamily="34" charset="-122"/>
                <a:cs typeface="Arial" pitchFamily="34" charset="-120"/>
              </a:rPr>
              <a:t>Acteurs : SuperAdmin, Admin, Service Technique, Commercial, Confirmatrice Client</a:t>
            </a:r>
            <a:endParaRPr lang="en-US" sz="1150" dirty="0"/>
          </a:p>
        </p:txBody>
      </p:sp>
      <p:sp>
        <p:nvSpPr>
          <p:cNvPr id="5" name="Shape 3"/>
          <p:cNvSpPr/>
          <p:nvPr/>
        </p:nvSpPr>
        <p:spPr>
          <a:xfrm>
            <a:off x="749808" y="1929170"/>
            <a:ext cx="10692079" cy="4188380"/>
          </a:xfrm>
          <a:prstGeom prst="rect">
            <a:avLst/>
          </a:prstGeom>
          <a:solidFill>
            <a:srgbClr val="FFFFFF"/>
          </a:solidFill>
          <a:ln w="12700">
            <a:solidFill>
              <a:srgbClr val="DADADA"/>
            </a:solidFill>
            <a:prstDash val="solid"/>
          </a:ln>
        </p:spPr>
      </p:sp>
      <p:pic>
        <p:nvPicPr>
          <p:cNvPr id="6" name="Image 0" descr="/tmp/pfe_canva/assets/uc1.jpg">    </p:cNvPr>
          <p:cNvPicPr>
            <a:picLocks noChangeAspect="1"/>
          </p:cNvPicPr>
          <p:nvPr/>
        </p:nvPicPr>
        <p:blipFill>
          <a:blip r:embed="rId1"/>
          <a:stretch>
            <a:fillRect/>
          </a:stretch>
        </p:blipFill>
        <p:spPr>
          <a:xfrm>
            <a:off x="822960" y="2002322"/>
            <a:ext cx="10545775" cy="4042076"/>
          </a:xfrm>
          <a:prstGeom prst="rect">
            <a:avLst/>
          </a:prstGeom>
        </p:spPr>
      </p:pic>
      <p:sp>
        <p:nvSpPr>
          <p:cNvPr id="7" name="Text 4"/>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19.</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365760"/>
            <a:ext cx="27432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6.3</a:t>
            </a:r>
            <a:endParaRPr lang="en-US" sz="1300" dirty="0"/>
          </a:p>
        </p:txBody>
      </p:sp>
      <p:sp>
        <p:nvSpPr>
          <p:cNvPr id="3" name="Text 1"/>
          <p:cNvSpPr/>
          <p:nvPr/>
        </p:nvSpPr>
        <p:spPr>
          <a:xfrm>
            <a:off x="822960" y="658368"/>
            <a:ext cx="960120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Cas d’utilisation — partie 2</a:t>
            </a:r>
            <a:endParaRPr lang="en-US" sz="2600" dirty="0"/>
          </a:p>
        </p:txBody>
      </p:sp>
      <p:sp>
        <p:nvSpPr>
          <p:cNvPr id="4" name="Text 2"/>
          <p:cNvSpPr/>
          <p:nvPr/>
        </p:nvSpPr>
        <p:spPr>
          <a:xfrm>
            <a:off x="822960" y="1170432"/>
            <a:ext cx="10424160" cy="457200"/>
          </a:xfrm>
          <a:prstGeom prst="rect">
            <a:avLst/>
          </a:prstGeom>
          <a:noFill/>
          <a:ln/>
        </p:spPr>
        <p:txBody>
          <a:bodyPr wrap="square" lIns="0" tIns="0" rIns="0" bIns="0" rtlCol="0" anchor="ctr"/>
          <a:lstStyle/>
          <a:p>
            <a:pPr indent="0" marL="0">
              <a:lnSpc>
                <a:spcPts val="1400"/>
              </a:lnSpc>
              <a:buNone/>
            </a:pPr>
            <a:r>
              <a:rPr lang="en-US" sz="1150" dirty="0">
                <a:solidFill>
                  <a:srgbClr val="4A4A4A"/>
                </a:solidFill>
                <a:latin typeface="Arial" pitchFamily="34" charset="0"/>
                <a:ea typeface="Arial" pitchFamily="34" charset="-122"/>
                <a:cs typeface="Arial" pitchFamily="34" charset="-120"/>
              </a:rPr>
              <a:t>Acteurs : Agent, Service Confirmation, Service Qualité</a:t>
            </a:r>
            <a:endParaRPr lang="en-US" sz="1150" dirty="0"/>
          </a:p>
        </p:txBody>
      </p:sp>
      <p:sp>
        <p:nvSpPr>
          <p:cNvPr id="5" name="Shape 3"/>
          <p:cNvSpPr/>
          <p:nvPr/>
        </p:nvSpPr>
        <p:spPr>
          <a:xfrm>
            <a:off x="749808" y="1788302"/>
            <a:ext cx="10692079" cy="4470115"/>
          </a:xfrm>
          <a:prstGeom prst="rect">
            <a:avLst/>
          </a:prstGeom>
          <a:solidFill>
            <a:srgbClr val="FFFFFF"/>
          </a:solidFill>
          <a:ln w="12700">
            <a:solidFill>
              <a:srgbClr val="DADADA"/>
            </a:solidFill>
            <a:prstDash val="solid"/>
          </a:ln>
        </p:spPr>
      </p:sp>
      <p:pic>
        <p:nvPicPr>
          <p:cNvPr id="6" name="Image 0" descr="/tmp/pfe_canva/assets/uc2.jpg">    </p:cNvPr>
          <p:cNvPicPr>
            <a:picLocks noChangeAspect="1"/>
          </p:cNvPicPr>
          <p:nvPr/>
        </p:nvPicPr>
        <p:blipFill>
          <a:blip r:embed="rId1"/>
          <a:stretch>
            <a:fillRect/>
          </a:stretch>
        </p:blipFill>
        <p:spPr>
          <a:xfrm>
            <a:off x="822960" y="1861454"/>
            <a:ext cx="10545775" cy="4323811"/>
          </a:xfrm>
          <a:prstGeom prst="rect">
            <a:avLst/>
          </a:prstGeom>
        </p:spPr>
      </p:pic>
      <p:sp>
        <p:nvSpPr>
          <p:cNvPr id="7" name="Text 4"/>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20.</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45720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6.4</a:t>
            </a:r>
            <a:endParaRPr lang="en-US" sz="1300" dirty="0"/>
          </a:p>
        </p:txBody>
      </p:sp>
      <p:sp>
        <p:nvSpPr>
          <p:cNvPr id="3" name="Text 1"/>
          <p:cNvSpPr/>
          <p:nvPr/>
        </p:nvSpPr>
        <p:spPr>
          <a:xfrm>
            <a:off x="822960" y="777240"/>
            <a:ext cx="5760720" cy="1188720"/>
          </a:xfrm>
          <a:prstGeom prst="rect">
            <a:avLst/>
          </a:prstGeom>
          <a:noFill/>
          <a:ln/>
        </p:spPr>
        <p:txBody>
          <a:bodyPr wrap="square" lIns="0" tIns="0" rIns="0" bIns="0" rtlCol="0" anchor="ctr"/>
          <a:lstStyle/>
          <a:p>
            <a:pPr indent="0" marL="0">
              <a:lnSpc>
                <a:spcPts val="3100"/>
              </a:lnSpc>
              <a:buNone/>
            </a:pPr>
            <a:r>
              <a:rPr lang="en-US" sz="2800" b="1" dirty="0">
                <a:solidFill>
                  <a:srgbClr val="111111"/>
                </a:solidFill>
                <a:latin typeface="Arial" pitchFamily="34" charset="0"/>
                <a:ea typeface="Arial" pitchFamily="34" charset="-122"/>
                <a:cs typeface="Arial" pitchFamily="34" charset="-120"/>
              </a:rPr>
              <a:t>Architecture logique vs physique</a:t>
            </a:r>
            <a:endParaRPr lang="en-US" sz="2800" dirty="0"/>
          </a:p>
        </p:txBody>
      </p:sp>
      <p:sp>
        <p:nvSpPr>
          <p:cNvPr id="4" name="Shape 2"/>
          <p:cNvSpPr/>
          <p:nvPr/>
        </p:nvSpPr>
        <p:spPr>
          <a:xfrm>
            <a:off x="6949440" y="1005840"/>
            <a:ext cx="4602175" cy="2468880"/>
          </a:xfrm>
          <a:prstGeom prst="roundRect">
            <a:avLst>
              <a:gd name="adj" fmla="val 2222"/>
            </a:avLst>
          </a:prstGeom>
          <a:solidFill>
            <a:srgbClr val="FFFFFF"/>
          </a:solidFill>
          <a:ln/>
        </p:spPr>
      </p:sp>
      <p:sp>
        <p:nvSpPr>
          <p:cNvPr id="5" name="Text 3"/>
          <p:cNvSpPr/>
          <p:nvPr/>
        </p:nvSpPr>
        <p:spPr>
          <a:xfrm>
            <a:off x="7178040" y="1170432"/>
            <a:ext cx="4144975"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Architecture logique — vue "boîte noire" du code</a:t>
            </a:r>
            <a:endParaRPr lang="en-US" sz="1300" dirty="0"/>
          </a:p>
        </p:txBody>
      </p:sp>
      <p:sp>
        <p:nvSpPr>
          <p:cNvPr id="6" name="Text 4"/>
          <p:cNvSpPr/>
          <p:nvPr/>
        </p:nvSpPr>
        <p:spPr>
          <a:xfrm>
            <a:off x="7178040" y="1572768"/>
            <a:ext cx="4144975" cy="1783080"/>
          </a:xfrm>
          <a:prstGeom prst="rect">
            <a:avLst/>
          </a:prstGeom>
          <a:noFill/>
          <a:ln/>
        </p:spPr>
        <p:txBody>
          <a:bodyPr wrap="square" lIns="0" tIns="0" rIns="0" bIns="0" rtlCol="0" anchor="ctr"/>
          <a:lstStyle/>
          <a:p>
            <a:pPr indent="0" marL="0">
              <a:lnSpc>
                <a:spcPts val="1450"/>
              </a:lnSpc>
              <a:buNone/>
            </a:pPr>
            <a:r>
              <a:rPr lang="en-US" sz="1100" dirty="0">
                <a:solidFill>
                  <a:srgbClr val="1A1A1A"/>
                </a:solidFill>
                <a:latin typeface="Arial" pitchFamily="34" charset="0"/>
                <a:ea typeface="Arial" pitchFamily="34" charset="-122"/>
                <a:cs typeface="Arial" pitchFamily="34" charset="-120"/>
              </a:rPr>
              <a:t>Décrit l’organisation du LOGICIEL : les couches, modules et services, et la manière dont ils échangent des données — indépendamment de l’infrastructure. Frontend, API, services métier, IA, données. Utile pour raisonner sur la conception.</a:t>
            </a:r>
            <a:endParaRPr lang="en-US" sz="1100" dirty="0"/>
          </a:p>
        </p:txBody>
      </p:sp>
      <p:sp>
        <p:nvSpPr>
          <p:cNvPr id="7" name="Shape 5"/>
          <p:cNvSpPr/>
          <p:nvPr/>
        </p:nvSpPr>
        <p:spPr>
          <a:xfrm>
            <a:off x="6949440" y="3749040"/>
            <a:ext cx="4602175" cy="2468880"/>
          </a:xfrm>
          <a:prstGeom prst="roundRect">
            <a:avLst>
              <a:gd name="adj" fmla="val 2222"/>
            </a:avLst>
          </a:prstGeom>
          <a:solidFill>
            <a:srgbClr val="FFFFFF"/>
          </a:solidFill>
          <a:ln/>
        </p:spPr>
      </p:sp>
      <p:sp>
        <p:nvSpPr>
          <p:cNvPr id="8" name="Text 6"/>
          <p:cNvSpPr/>
          <p:nvPr/>
        </p:nvSpPr>
        <p:spPr>
          <a:xfrm>
            <a:off x="7178040" y="3913632"/>
            <a:ext cx="4144975"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Architecture physique — vue "infrastructure"</a:t>
            </a:r>
            <a:endParaRPr lang="en-US" sz="1300" dirty="0"/>
          </a:p>
        </p:txBody>
      </p:sp>
      <p:sp>
        <p:nvSpPr>
          <p:cNvPr id="9" name="Text 7"/>
          <p:cNvSpPr/>
          <p:nvPr/>
        </p:nvSpPr>
        <p:spPr>
          <a:xfrm>
            <a:off x="7178040" y="4315968"/>
            <a:ext cx="4144975" cy="1783080"/>
          </a:xfrm>
          <a:prstGeom prst="rect">
            <a:avLst/>
          </a:prstGeom>
          <a:noFill/>
          <a:ln/>
        </p:spPr>
        <p:txBody>
          <a:bodyPr wrap="square" lIns="0" tIns="0" rIns="0" bIns="0" rtlCol="0" anchor="ctr"/>
          <a:lstStyle/>
          <a:p>
            <a:pPr indent="0" marL="0">
              <a:lnSpc>
                <a:spcPts val="1450"/>
              </a:lnSpc>
              <a:buNone/>
            </a:pPr>
            <a:r>
              <a:rPr lang="en-US" sz="1100" dirty="0">
                <a:solidFill>
                  <a:srgbClr val="1A1A1A"/>
                </a:solidFill>
                <a:latin typeface="Arial" pitchFamily="34" charset="0"/>
                <a:ea typeface="Arial" pitchFamily="34" charset="-122"/>
                <a:cs typeface="Arial" pitchFamily="34" charset="-120"/>
              </a:rPr>
              <a:t>Décrit le DÉPLOIEMENT réel : sur quelles machines/serveurs chaque composant s’exécute, et comment ils communiquent sur le réseau. Postes clients, serveur applicatif, serveur base de données. Utile pour raisonner sur l’exploitation.</a:t>
            </a:r>
            <a:endParaRPr lang="en-US" sz="1100" dirty="0"/>
          </a:p>
        </p:txBody>
      </p:sp>
      <p:sp>
        <p:nvSpPr>
          <p:cNvPr id="10" name="Text 8"/>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21.</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365760"/>
            <a:ext cx="27432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6.5</a:t>
            </a:r>
            <a:endParaRPr lang="en-US" sz="1300" dirty="0"/>
          </a:p>
        </p:txBody>
      </p:sp>
      <p:sp>
        <p:nvSpPr>
          <p:cNvPr id="3" name="Text 1"/>
          <p:cNvSpPr/>
          <p:nvPr/>
        </p:nvSpPr>
        <p:spPr>
          <a:xfrm>
            <a:off x="822960" y="658368"/>
            <a:ext cx="960120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Architecture logique</a:t>
            </a:r>
            <a:endParaRPr lang="en-US" sz="2600" dirty="0"/>
          </a:p>
        </p:txBody>
      </p:sp>
      <p:sp>
        <p:nvSpPr>
          <p:cNvPr id="4" name="Text 2"/>
          <p:cNvSpPr/>
          <p:nvPr/>
        </p:nvSpPr>
        <p:spPr>
          <a:xfrm>
            <a:off x="822960" y="1170432"/>
            <a:ext cx="10424160" cy="457200"/>
          </a:xfrm>
          <a:prstGeom prst="rect">
            <a:avLst/>
          </a:prstGeom>
          <a:noFill/>
          <a:ln/>
        </p:spPr>
        <p:txBody>
          <a:bodyPr wrap="square" lIns="0" tIns="0" rIns="0" bIns="0" rtlCol="0" anchor="ctr"/>
          <a:lstStyle/>
          <a:p>
            <a:pPr indent="0" marL="0">
              <a:lnSpc>
                <a:spcPts val="1400"/>
              </a:lnSpc>
              <a:buNone/>
            </a:pPr>
            <a:r>
              <a:rPr lang="en-US" sz="1150" dirty="0">
                <a:solidFill>
                  <a:srgbClr val="4A4A4A"/>
                </a:solidFill>
                <a:latin typeface="Arial" pitchFamily="34" charset="0"/>
                <a:ea typeface="Arial" pitchFamily="34" charset="-122"/>
                <a:cs typeface="Arial" pitchFamily="34" charset="-120"/>
              </a:rPr>
              <a:t>Flux global : React → API REST (ASP.NET Core) → Services métier → PostgreSQL, avec un appel asynchrone vers le microservice IA pour le scoring.</a:t>
            </a:r>
            <a:endParaRPr lang="en-US" sz="1150" dirty="0"/>
          </a:p>
        </p:txBody>
      </p:sp>
      <p:sp>
        <p:nvSpPr>
          <p:cNvPr id="5" name="Shape 3"/>
          <p:cNvSpPr/>
          <p:nvPr/>
        </p:nvSpPr>
        <p:spPr>
          <a:xfrm>
            <a:off x="749808" y="1967174"/>
            <a:ext cx="10692079" cy="4112372"/>
          </a:xfrm>
          <a:prstGeom prst="rect">
            <a:avLst/>
          </a:prstGeom>
          <a:solidFill>
            <a:srgbClr val="FFFFFF"/>
          </a:solidFill>
          <a:ln w="12700">
            <a:solidFill>
              <a:srgbClr val="DADADA"/>
            </a:solidFill>
            <a:prstDash val="solid"/>
          </a:ln>
        </p:spPr>
      </p:sp>
      <p:pic>
        <p:nvPicPr>
          <p:cNvPr id="6" name="Image 0" descr="/tmp/pfe_canva/assets/arch_logique.png">    </p:cNvPr>
          <p:cNvPicPr>
            <a:picLocks noChangeAspect="1"/>
          </p:cNvPicPr>
          <p:nvPr/>
        </p:nvPicPr>
        <p:blipFill>
          <a:blip r:embed="rId1"/>
          <a:stretch>
            <a:fillRect/>
          </a:stretch>
        </p:blipFill>
        <p:spPr>
          <a:xfrm>
            <a:off x="822960" y="2040326"/>
            <a:ext cx="10545775" cy="3966068"/>
          </a:xfrm>
          <a:prstGeom prst="rect">
            <a:avLst/>
          </a:prstGeom>
        </p:spPr>
      </p:pic>
      <p:sp>
        <p:nvSpPr>
          <p:cNvPr id="7" name="Text 4"/>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22.</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365760"/>
            <a:ext cx="27432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6.6</a:t>
            </a:r>
            <a:endParaRPr lang="en-US" sz="1300" dirty="0"/>
          </a:p>
        </p:txBody>
      </p:sp>
      <p:sp>
        <p:nvSpPr>
          <p:cNvPr id="3" name="Text 1"/>
          <p:cNvSpPr/>
          <p:nvPr/>
        </p:nvSpPr>
        <p:spPr>
          <a:xfrm>
            <a:off x="822960" y="658368"/>
            <a:ext cx="9601200" cy="54864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Architecture physique</a:t>
            </a:r>
            <a:endParaRPr lang="en-US" sz="2600" dirty="0"/>
          </a:p>
        </p:txBody>
      </p:sp>
      <p:sp>
        <p:nvSpPr>
          <p:cNvPr id="4" name="Text 2"/>
          <p:cNvSpPr/>
          <p:nvPr/>
        </p:nvSpPr>
        <p:spPr>
          <a:xfrm>
            <a:off x="822960" y="1170432"/>
            <a:ext cx="10424160" cy="457200"/>
          </a:xfrm>
          <a:prstGeom prst="rect">
            <a:avLst/>
          </a:prstGeom>
          <a:noFill/>
          <a:ln/>
        </p:spPr>
        <p:txBody>
          <a:bodyPr wrap="square" lIns="0" tIns="0" rIns="0" bIns="0" rtlCol="0" anchor="ctr"/>
          <a:lstStyle/>
          <a:p>
            <a:pPr indent="0" marL="0">
              <a:lnSpc>
                <a:spcPts val="1400"/>
              </a:lnSpc>
              <a:buNone/>
            </a:pPr>
            <a:r>
              <a:rPr lang="en-US" sz="1150" dirty="0">
                <a:solidFill>
                  <a:srgbClr val="4A4A4A"/>
                </a:solidFill>
                <a:latin typeface="Arial" pitchFamily="34" charset="0"/>
                <a:ea typeface="Arial" pitchFamily="34" charset="-122"/>
                <a:cs typeface="Arial" pitchFamily="34" charset="-120"/>
              </a:rPr>
              <a:t>Déploiement actuel (PFE / démonstration) : les trois composants serveur cohabitent sur une même machine. En production, le serveur applicatif et le serveur de base de données pourraient être séparés, sans changer l’architecture logique.</a:t>
            </a:r>
            <a:endParaRPr lang="en-US" sz="1150" dirty="0"/>
          </a:p>
        </p:txBody>
      </p:sp>
      <p:sp>
        <p:nvSpPr>
          <p:cNvPr id="5" name="Shape 3"/>
          <p:cNvSpPr/>
          <p:nvPr/>
        </p:nvSpPr>
        <p:spPr>
          <a:xfrm>
            <a:off x="749808" y="2107185"/>
            <a:ext cx="10692079" cy="3832349"/>
          </a:xfrm>
          <a:prstGeom prst="rect">
            <a:avLst/>
          </a:prstGeom>
          <a:solidFill>
            <a:srgbClr val="FFFFFF"/>
          </a:solidFill>
          <a:ln w="12700">
            <a:solidFill>
              <a:srgbClr val="DADADA"/>
            </a:solidFill>
            <a:prstDash val="solid"/>
          </a:ln>
        </p:spPr>
      </p:sp>
      <p:pic>
        <p:nvPicPr>
          <p:cNvPr id="6" name="Image 0" descr="/tmp/pfe_canva/assets/arch_physique.png">    </p:cNvPr>
          <p:cNvPicPr>
            <a:picLocks noChangeAspect="1"/>
          </p:cNvPicPr>
          <p:nvPr/>
        </p:nvPicPr>
        <p:blipFill>
          <a:blip r:embed="rId1"/>
          <a:stretch>
            <a:fillRect/>
          </a:stretch>
        </p:blipFill>
        <p:spPr>
          <a:xfrm>
            <a:off x="822960" y="2180337"/>
            <a:ext cx="10545775" cy="3686045"/>
          </a:xfrm>
          <a:prstGeom prst="rect">
            <a:avLst/>
          </a:prstGeom>
        </p:spPr>
      </p:pic>
      <p:sp>
        <p:nvSpPr>
          <p:cNvPr id="7" name="Text 4"/>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23.</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777240"/>
            <a:ext cx="9875520" cy="640080"/>
          </a:xfrm>
          <a:prstGeom prst="rect">
            <a:avLst/>
          </a:prstGeom>
          <a:noFill/>
          <a:ln/>
        </p:spPr>
        <p:txBody>
          <a:bodyPr wrap="square" lIns="0" tIns="0" rIns="0" bIns="0" rtlCol="0" anchor="ctr"/>
          <a:lstStyle/>
          <a:p>
            <a:pPr indent="0" marL="0">
              <a:buNone/>
            </a:pPr>
            <a:r>
              <a:rPr lang="en-US" sz="2800" b="1" dirty="0">
                <a:solidFill>
                  <a:srgbClr val="111111"/>
                </a:solidFill>
                <a:latin typeface="Arial" pitchFamily="34" charset="0"/>
                <a:ea typeface="Arial" pitchFamily="34" charset="-122"/>
                <a:cs typeface="Arial" pitchFamily="34" charset="-120"/>
              </a:rPr>
              <a:t>Technologies utilisées</a:t>
            </a:r>
            <a:endParaRPr lang="en-US" sz="2800" dirty="0"/>
          </a:p>
        </p:txBody>
      </p:sp>
      <p:sp>
        <p:nvSpPr>
          <p:cNvPr id="3" name="Text 1"/>
          <p:cNvSpPr/>
          <p:nvPr/>
        </p:nvSpPr>
        <p:spPr>
          <a:xfrm>
            <a:off x="822960" y="1508760"/>
            <a:ext cx="10424160" cy="548640"/>
          </a:xfrm>
          <a:prstGeom prst="rect">
            <a:avLst/>
          </a:prstGeom>
          <a:noFill/>
          <a:ln/>
        </p:spPr>
        <p:txBody>
          <a:bodyPr wrap="square" lIns="0" tIns="0" rIns="0" bIns="0" rtlCol="0" anchor="ctr"/>
          <a:lstStyle/>
          <a:p>
            <a:pPr indent="0" marL="0">
              <a:lnSpc>
                <a:spcPts val="1600"/>
              </a:lnSpc>
              <a:buNone/>
            </a:pPr>
            <a:r>
              <a:rPr lang="en-US" sz="1250" dirty="0">
                <a:solidFill>
                  <a:srgbClr val="1A1A1A"/>
                </a:solidFill>
                <a:latin typeface="Arial" pitchFamily="34" charset="0"/>
                <a:ea typeface="Arial" pitchFamily="34" charset="-122"/>
                <a:cs typeface="Arial" pitchFamily="34" charset="-120"/>
              </a:rPr>
              <a:t>Stack technique retenue pour la plateforme CRM.</a:t>
            </a:r>
            <a:endParaRPr lang="en-US" sz="1250" dirty="0"/>
          </a:p>
        </p:txBody>
      </p:sp>
      <p:sp>
        <p:nvSpPr>
          <p:cNvPr id="4" name="Shape 2"/>
          <p:cNvSpPr/>
          <p:nvPr/>
        </p:nvSpPr>
        <p:spPr>
          <a:xfrm>
            <a:off x="822960" y="2194560"/>
            <a:ext cx="566928" cy="566928"/>
          </a:xfrm>
          <a:prstGeom prst="roundRect">
            <a:avLst>
              <a:gd name="adj" fmla="val 12903"/>
            </a:avLst>
          </a:prstGeom>
          <a:solidFill>
            <a:srgbClr val="30459E"/>
          </a:solidFill>
          <a:ln/>
        </p:spPr>
      </p:sp>
      <p:sp>
        <p:nvSpPr>
          <p:cNvPr id="5" name="Text 3"/>
          <p:cNvSpPr/>
          <p:nvPr/>
        </p:nvSpPr>
        <p:spPr>
          <a:xfrm>
            <a:off x="822960"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a:t>
            </a:r>
            <a:endParaRPr lang="en-US" sz="1600" dirty="0"/>
          </a:p>
        </p:txBody>
      </p:sp>
      <p:sp>
        <p:nvSpPr>
          <p:cNvPr id="6" name="Shape 4"/>
          <p:cNvSpPr/>
          <p:nvPr/>
        </p:nvSpPr>
        <p:spPr>
          <a:xfrm>
            <a:off x="822960" y="2907792"/>
            <a:ext cx="457200" cy="0"/>
          </a:xfrm>
          <a:prstGeom prst="line">
            <a:avLst/>
          </a:prstGeom>
          <a:noFill/>
          <a:ln w="19050">
            <a:solidFill>
              <a:srgbClr val="30459E"/>
            </a:solidFill>
            <a:prstDash val="solid"/>
          </a:ln>
        </p:spPr>
      </p:sp>
      <p:sp>
        <p:nvSpPr>
          <p:cNvPr id="7" name="Text 5"/>
          <p:cNvSpPr/>
          <p:nvPr/>
        </p:nvSpPr>
        <p:spPr>
          <a:xfrm>
            <a:off x="822960" y="298094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.NET / ASP.NET Core</a:t>
            </a:r>
            <a:endParaRPr lang="en-US" sz="1200" dirty="0"/>
          </a:p>
        </p:txBody>
      </p:sp>
      <p:sp>
        <p:nvSpPr>
          <p:cNvPr id="8" name="Text 6"/>
          <p:cNvSpPr/>
          <p:nvPr/>
        </p:nvSpPr>
        <p:spPr>
          <a:xfrm>
            <a:off x="822960" y="325526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API REST backend.</a:t>
            </a:r>
            <a:endParaRPr lang="en-US" sz="1000" dirty="0"/>
          </a:p>
        </p:txBody>
      </p:sp>
      <p:sp>
        <p:nvSpPr>
          <p:cNvPr id="9" name="Shape 7"/>
          <p:cNvSpPr/>
          <p:nvPr/>
        </p:nvSpPr>
        <p:spPr>
          <a:xfrm>
            <a:off x="2986979" y="2194560"/>
            <a:ext cx="566928" cy="566928"/>
          </a:xfrm>
          <a:prstGeom prst="roundRect">
            <a:avLst>
              <a:gd name="adj" fmla="val 12903"/>
            </a:avLst>
          </a:prstGeom>
          <a:solidFill>
            <a:srgbClr val="30459E"/>
          </a:solidFill>
          <a:ln/>
        </p:spPr>
      </p:sp>
      <p:sp>
        <p:nvSpPr>
          <p:cNvPr id="10" name="Text 8"/>
          <p:cNvSpPr/>
          <p:nvPr/>
        </p:nvSpPr>
        <p:spPr>
          <a:xfrm>
            <a:off x="2986979"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a:t>
            </a:r>
            <a:endParaRPr lang="en-US" sz="1600" dirty="0"/>
          </a:p>
        </p:txBody>
      </p:sp>
      <p:sp>
        <p:nvSpPr>
          <p:cNvPr id="11" name="Shape 9"/>
          <p:cNvSpPr/>
          <p:nvPr/>
        </p:nvSpPr>
        <p:spPr>
          <a:xfrm>
            <a:off x="2986979" y="2907792"/>
            <a:ext cx="457200" cy="0"/>
          </a:xfrm>
          <a:prstGeom prst="line">
            <a:avLst/>
          </a:prstGeom>
          <a:noFill/>
          <a:ln w="19050">
            <a:solidFill>
              <a:srgbClr val="30459E"/>
            </a:solidFill>
            <a:prstDash val="solid"/>
          </a:ln>
        </p:spPr>
      </p:sp>
      <p:sp>
        <p:nvSpPr>
          <p:cNvPr id="12" name="Text 10"/>
          <p:cNvSpPr/>
          <p:nvPr/>
        </p:nvSpPr>
        <p:spPr>
          <a:xfrm>
            <a:off x="2986979" y="298094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React</a:t>
            </a:r>
            <a:endParaRPr lang="en-US" sz="1200" dirty="0"/>
          </a:p>
        </p:txBody>
      </p:sp>
      <p:sp>
        <p:nvSpPr>
          <p:cNvPr id="13" name="Text 11"/>
          <p:cNvSpPr/>
          <p:nvPr/>
        </p:nvSpPr>
        <p:spPr>
          <a:xfrm>
            <a:off x="2986979" y="325526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Frontend SPA.</a:t>
            </a:r>
            <a:endParaRPr lang="en-US" sz="1000" dirty="0"/>
          </a:p>
        </p:txBody>
      </p:sp>
      <p:sp>
        <p:nvSpPr>
          <p:cNvPr id="14" name="Shape 12"/>
          <p:cNvSpPr/>
          <p:nvPr/>
        </p:nvSpPr>
        <p:spPr>
          <a:xfrm>
            <a:off x="5150998" y="2194560"/>
            <a:ext cx="566928" cy="566928"/>
          </a:xfrm>
          <a:prstGeom prst="roundRect">
            <a:avLst>
              <a:gd name="adj" fmla="val 12903"/>
            </a:avLst>
          </a:prstGeom>
          <a:solidFill>
            <a:srgbClr val="30459E"/>
          </a:solidFill>
          <a:ln/>
        </p:spPr>
      </p:sp>
      <p:sp>
        <p:nvSpPr>
          <p:cNvPr id="15" name="Text 13"/>
          <p:cNvSpPr/>
          <p:nvPr/>
        </p:nvSpPr>
        <p:spPr>
          <a:xfrm>
            <a:off x="5150998"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FA</a:t>
            </a:r>
            <a:endParaRPr lang="en-US" sz="1600" dirty="0"/>
          </a:p>
        </p:txBody>
      </p:sp>
      <p:sp>
        <p:nvSpPr>
          <p:cNvPr id="16" name="Shape 14"/>
          <p:cNvSpPr/>
          <p:nvPr/>
        </p:nvSpPr>
        <p:spPr>
          <a:xfrm>
            <a:off x="5150998" y="2907792"/>
            <a:ext cx="457200" cy="0"/>
          </a:xfrm>
          <a:prstGeom prst="line">
            <a:avLst/>
          </a:prstGeom>
          <a:noFill/>
          <a:ln w="19050">
            <a:solidFill>
              <a:srgbClr val="30459E"/>
            </a:solidFill>
            <a:prstDash val="solid"/>
          </a:ln>
        </p:spPr>
      </p:sp>
      <p:sp>
        <p:nvSpPr>
          <p:cNvPr id="17" name="Text 15"/>
          <p:cNvSpPr/>
          <p:nvPr/>
        </p:nvSpPr>
        <p:spPr>
          <a:xfrm>
            <a:off x="5150998" y="298094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FastAPI</a:t>
            </a:r>
            <a:endParaRPr lang="en-US" sz="1200" dirty="0"/>
          </a:p>
        </p:txBody>
      </p:sp>
      <p:sp>
        <p:nvSpPr>
          <p:cNvPr id="18" name="Text 16"/>
          <p:cNvSpPr/>
          <p:nvPr/>
        </p:nvSpPr>
        <p:spPr>
          <a:xfrm>
            <a:off x="5150998" y="325526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Microservice IA.</a:t>
            </a:r>
            <a:endParaRPr lang="en-US" sz="1000" dirty="0"/>
          </a:p>
        </p:txBody>
      </p:sp>
      <p:sp>
        <p:nvSpPr>
          <p:cNvPr id="19" name="Shape 17"/>
          <p:cNvSpPr/>
          <p:nvPr/>
        </p:nvSpPr>
        <p:spPr>
          <a:xfrm>
            <a:off x="7315017" y="2194560"/>
            <a:ext cx="566928" cy="566928"/>
          </a:xfrm>
          <a:prstGeom prst="roundRect">
            <a:avLst>
              <a:gd name="adj" fmla="val 12903"/>
            </a:avLst>
          </a:prstGeom>
          <a:solidFill>
            <a:srgbClr val="30459E"/>
          </a:solidFill>
          <a:ln/>
        </p:spPr>
      </p:sp>
      <p:sp>
        <p:nvSpPr>
          <p:cNvPr id="20" name="Text 18"/>
          <p:cNvSpPr/>
          <p:nvPr/>
        </p:nvSpPr>
        <p:spPr>
          <a:xfrm>
            <a:off x="7315017"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PY</a:t>
            </a:r>
            <a:endParaRPr lang="en-US" sz="1600" dirty="0"/>
          </a:p>
        </p:txBody>
      </p:sp>
      <p:sp>
        <p:nvSpPr>
          <p:cNvPr id="21" name="Shape 19"/>
          <p:cNvSpPr/>
          <p:nvPr/>
        </p:nvSpPr>
        <p:spPr>
          <a:xfrm>
            <a:off x="7315017" y="2907792"/>
            <a:ext cx="457200" cy="0"/>
          </a:xfrm>
          <a:prstGeom prst="line">
            <a:avLst/>
          </a:prstGeom>
          <a:noFill/>
          <a:ln w="19050">
            <a:solidFill>
              <a:srgbClr val="30459E"/>
            </a:solidFill>
            <a:prstDash val="solid"/>
          </a:ln>
        </p:spPr>
      </p:sp>
      <p:sp>
        <p:nvSpPr>
          <p:cNvPr id="22" name="Text 20"/>
          <p:cNvSpPr/>
          <p:nvPr/>
        </p:nvSpPr>
        <p:spPr>
          <a:xfrm>
            <a:off x="7315017" y="298094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Python</a:t>
            </a:r>
            <a:endParaRPr lang="en-US" sz="1200" dirty="0"/>
          </a:p>
        </p:txBody>
      </p:sp>
      <p:sp>
        <p:nvSpPr>
          <p:cNvPr id="23" name="Text 21"/>
          <p:cNvSpPr/>
          <p:nvPr/>
        </p:nvSpPr>
        <p:spPr>
          <a:xfrm>
            <a:off x="7315017" y="325526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Scoring / ML.</a:t>
            </a:r>
            <a:endParaRPr lang="en-US" sz="1000" dirty="0"/>
          </a:p>
        </p:txBody>
      </p:sp>
      <p:sp>
        <p:nvSpPr>
          <p:cNvPr id="24" name="Shape 22"/>
          <p:cNvSpPr/>
          <p:nvPr/>
        </p:nvSpPr>
        <p:spPr>
          <a:xfrm>
            <a:off x="9479036" y="2194560"/>
            <a:ext cx="566928" cy="566928"/>
          </a:xfrm>
          <a:prstGeom prst="roundRect">
            <a:avLst>
              <a:gd name="adj" fmla="val 12903"/>
            </a:avLst>
          </a:prstGeom>
          <a:solidFill>
            <a:srgbClr val="30459E"/>
          </a:solidFill>
          <a:ln/>
        </p:spPr>
      </p:sp>
      <p:sp>
        <p:nvSpPr>
          <p:cNvPr id="25" name="Text 23"/>
          <p:cNvSpPr/>
          <p:nvPr/>
        </p:nvSpPr>
        <p:spPr>
          <a:xfrm>
            <a:off x="9479036" y="219456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PO</a:t>
            </a:r>
            <a:endParaRPr lang="en-US" sz="1600" dirty="0"/>
          </a:p>
        </p:txBody>
      </p:sp>
      <p:sp>
        <p:nvSpPr>
          <p:cNvPr id="26" name="Shape 24"/>
          <p:cNvSpPr/>
          <p:nvPr/>
        </p:nvSpPr>
        <p:spPr>
          <a:xfrm>
            <a:off x="9479036" y="2907792"/>
            <a:ext cx="457200" cy="0"/>
          </a:xfrm>
          <a:prstGeom prst="line">
            <a:avLst/>
          </a:prstGeom>
          <a:noFill/>
          <a:ln w="19050">
            <a:solidFill>
              <a:srgbClr val="30459E"/>
            </a:solidFill>
            <a:prstDash val="solid"/>
          </a:ln>
        </p:spPr>
      </p:sp>
      <p:sp>
        <p:nvSpPr>
          <p:cNvPr id="27" name="Text 25"/>
          <p:cNvSpPr/>
          <p:nvPr/>
        </p:nvSpPr>
        <p:spPr>
          <a:xfrm>
            <a:off x="9479036" y="298094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PostgreSQL</a:t>
            </a:r>
            <a:endParaRPr lang="en-US" sz="1200" dirty="0"/>
          </a:p>
        </p:txBody>
      </p:sp>
      <p:sp>
        <p:nvSpPr>
          <p:cNvPr id="28" name="Text 26"/>
          <p:cNvSpPr/>
          <p:nvPr/>
        </p:nvSpPr>
        <p:spPr>
          <a:xfrm>
            <a:off x="9479036" y="325526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Base de données.</a:t>
            </a:r>
            <a:endParaRPr lang="en-US" sz="1000" dirty="0"/>
          </a:p>
        </p:txBody>
      </p:sp>
      <p:sp>
        <p:nvSpPr>
          <p:cNvPr id="29" name="Shape 27"/>
          <p:cNvSpPr/>
          <p:nvPr/>
        </p:nvSpPr>
        <p:spPr>
          <a:xfrm>
            <a:off x="822960" y="4206240"/>
            <a:ext cx="566928" cy="566928"/>
          </a:xfrm>
          <a:prstGeom prst="roundRect">
            <a:avLst>
              <a:gd name="adj" fmla="val 12903"/>
            </a:avLst>
          </a:prstGeom>
          <a:solidFill>
            <a:srgbClr val="30459E"/>
          </a:solidFill>
          <a:ln/>
        </p:spPr>
      </p:sp>
      <p:sp>
        <p:nvSpPr>
          <p:cNvPr id="30" name="Text 28"/>
          <p:cNvSpPr/>
          <p:nvPr/>
        </p:nvSpPr>
        <p:spPr>
          <a:xfrm>
            <a:off x="822960"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JW</a:t>
            </a:r>
            <a:endParaRPr lang="en-US" sz="1600" dirty="0"/>
          </a:p>
        </p:txBody>
      </p:sp>
      <p:sp>
        <p:nvSpPr>
          <p:cNvPr id="31" name="Shape 29"/>
          <p:cNvSpPr/>
          <p:nvPr/>
        </p:nvSpPr>
        <p:spPr>
          <a:xfrm>
            <a:off x="822960" y="4919472"/>
            <a:ext cx="457200" cy="0"/>
          </a:xfrm>
          <a:prstGeom prst="line">
            <a:avLst/>
          </a:prstGeom>
          <a:noFill/>
          <a:ln w="19050">
            <a:solidFill>
              <a:srgbClr val="30459E"/>
            </a:solidFill>
            <a:prstDash val="solid"/>
          </a:ln>
        </p:spPr>
      </p:sp>
      <p:sp>
        <p:nvSpPr>
          <p:cNvPr id="32" name="Text 30"/>
          <p:cNvSpPr/>
          <p:nvPr/>
        </p:nvSpPr>
        <p:spPr>
          <a:xfrm>
            <a:off x="822960" y="499262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JWT</a:t>
            </a:r>
            <a:endParaRPr lang="en-US" sz="1200" dirty="0"/>
          </a:p>
        </p:txBody>
      </p:sp>
      <p:sp>
        <p:nvSpPr>
          <p:cNvPr id="33" name="Text 31"/>
          <p:cNvSpPr/>
          <p:nvPr/>
        </p:nvSpPr>
        <p:spPr>
          <a:xfrm>
            <a:off x="822960" y="526694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Authentification.</a:t>
            </a:r>
            <a:endParaRPr lang="en-US" sz="1000" dirty="0"/>
          </a:p>
        </p:txBody>
      </p:sp>
      <p:sp>
        <p:nvSpPr>
          <p:cNvPr id="34" name="Shape 32"/>
          <p:cNvSpPr/>
          <p:nvPr/>
        </p:nvSpPr>
        <p:spPr>
          <a:xfrm>
            <a:off x="2986979" y="4206240"/>
            <a:ext cx="566928" cy="566928"/>
          </a:xfrm>
          <a:prstGeom prst="roundRect">
            <a:avLst>
              <a:gd name="adj" fmla="val 12903"/>
            </a:avLst>
          </a:prstGeom>
          <a:solidFill>
            <a:srgbClr val="30459E"/>
          </a:solidFill>
          <a:ln/>
        </p:spPr>
      </p:sp>
      <p:sp>
        <p:nvSpPr>
          <p:cNvPr id="35" name="Text 33"/>
          <p:cNvSpPr/>
          <p:nvPr/>
        </p:nvSpPr>
        <p:spPr>
          <a:xfrm>
            <a:off x="2986979"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BC</a:t>
            </a:r>
            <a:endParaRPr lang="en-US" sz="1600" dirty="0"/>
          </a:p>
        </p:txBody>
      </p:sp>
      <p:sp>
        <p:nvSpPr>
          <p:cNvPr id="36" name="Shape 34"/>
          <p:cNvSpPr/>
          <p:nvPr/>
        </p:nvSpPr>
        <p:spPr>
          <a:xfrm>
            <a:off x="2986979" y="4919472"/>
            <a:ext cx="457200" cy="0"/>
          </a:xfrm>
          <a:prstGeom prst="line">
            <a:avLst/>
          </a:prstGeom>
          <a:noFill/>
          <a:ln w="19050">
            <a:solidFill>
              <a:srgbClr val="30459E"/>
            </a:solidFill>
            <a:prstDash val="solid"/>
          </a:ln>
        </p:spPr>
      </p:sp>
      <p:sp>
        <p:nvSpPr>
          <p:cNvPr id="37" name="Text 35"/>
          <p:cNvSpPr/>
          <p:nvPr/>
        </p:nvSpPr>
        <p:spPr>
          <a:xfrm>
            <a:off x="2986979" y="499262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BCrypt</a:t>
            </a:r>
            <a:endParaRPr lang="en-US" sz="1200" dirty="0"/>
          </a:p>
        </p:txBody>
      </p:sp>
      <p:sp>
        <p:nvSpPr>
          <p:cNvPr id="38" name="Text 36"/>
          <p:cNvSpPr/>
          <p:nvPr/>
        </p:nvSpPr>
        <p:spPr>
          <a:xfrm>
            <a:off x="2986979" y="526694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Hachage mots de passe.</a:t>
            </a:r>
            <a:endParaRPr lang="en-US" sz="1000" dirty="0"/>
          </a:p>
        </p:txBody>
      </p:sp>
      <p:sp>
        <p:nvSpPr>
          <p:cNvPr id="39" name="Shape 37"/>
          <p:cNvSpPr/>
          <p:nvPr/>
        </p:nvSpPr>
        <p:spPr>
          <a:xfrm>
            <a:off x="5150998" y="4206240"/>
            <a:ext cx="566928" cy="566928"/>
          </a:xfrm>
          <a:prstGeom prst="roundRect">
            <a:avLst>
              <a:gd name="adj" fmla="val 12903"/>
            </a:avLst>
          </a:prstGeom>
          <a:solidFill>
            <a:srgbClr val="30459E"/>
          </a:solidFill>
          <a:ln/>
        </p:spPr>
      </p:sp>
      <p:sp>
        <p:nvSpPr>
          <p:cNvPr id="40" name="Text 38"/>
          <p:cNvSpPr/>
          <p:nvPr/>
        </p:nvSpPr>
        <p:spPr>
          <a:xfrm>
            <a:off x="5150998"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a:t>
            </a:r>
            <a:endParaRPr lang="en-US" sz="1600" dirty="0"/>
          </a:p>
        </p:txBody>
      </p:sp>
      <p:sp>
        <p:nvSpPr>
          <p:cNvPr id="41" name="Shape 39"/>
          <p:cNvSpPr/>
          <p:nvPr/>
        </p:nvSpPr>
        <p:spPr>
          <a:xfrm>
            <a:off x="5150998" y="4919472"/>
            <a:ext cx="457200" cy="0"/>
          </a:xfrm>
          <a:prstGeom prst="line">
            <a:avLst/>
          </a:prstGeom>
          <a:noFill/>
          <a:ln w="19050">
            <a:solidFill>
              <a:srgbClr val="30459E"/>
            </a:solidFill>
            <a:prstDash val="solid"/>
          </a:ln>
        </p:spPr>
      </p:sp>
      <p:sp>
        <p:nvSpPr>
          <p:cNvPr id="42" name="Text 40"/>
          <p:cNvSpPr/>
          <p:nvPr/>
        </p:nvSpPr>
        <p:spPr>
          <a:xfrm>
            <a:off x="5150998" y="499262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SignalR</a:t>
            </a:r>
            <a:endParaRPr lang="en-US" sz="1200" dirty="0"/>
          </a:p>
        </p:txBody>
      </p:sp>
      <p:sp>
        <p:nvSpPr>
          <p:cNvPr id="43" name="Text 41"/>
          <p:cNvSpPr/>
          <p:nvPr/>
        </p:nvSpPr>
        <p:spPr>
          <a:xfrm>
            <a:off x="5150998" y="526694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Messagerie temps réel.</a:t>
            </a:r>
            <a:endParaRPr lang="en-US" sz="1000" dirty="0"/>
          </a:p>
        </p:txBody>
      </p:sp>
      <p:sp>
        <p:nvSpPr>
          <p:cNvPr id="44" name="Shape 42"/>
          <p:cNvSpPr/>
          <p:nvPr/>
        </p:nvSpPr>
        <p:spPr>
          <a:xfrm>
            <a:off x="7315017" y="4206240"/>
            <a:ext cx="566928" cy="566928"/>
          </a:xfrm>
          <a:prstGeom prst="roundRect">
            <a:avLst>
              <a:gd name="adj" fmla="val 12903"/>
            </a:avLst>
          </a:prstGeom>
          <a:solidFill>
            <a:srgbClr val="30459E"/>
          </a:solidFill>
          <a:ln/>
        </p:spPr>
      </p:sp>
      <p:sp>
        <p:nvSpPr>
          <p:cNvPr id="45" name="Text 43"/>
          <p:cNvSpPr/>
          <p:nvPr/>
        </p:nvSpPr>
        <p:spPr>
          <a:xfrm>
            <a:off x="7315017"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GI</a:t>
            </a:r>
            <a:endParaRPr lang="en-US" sz="1600" dirty="0"/>
          </a:p>
        </p:txBody>
      </p:sp>
      <p:sp>
        <p:nvSpPr>
          <p:cNvPr id="46" name="Shape 44"/>
          <p:cNvSpPr/>
          <p:nvPr/>
        </p:nvSpPr>
        <p:spPr>
          <a:xfrm>
            <a:off x="7315017" y="4919472"/>
            <a:ext cx="457200" cy="0"/>
          </a:xfrm>
          <a:prstGeom prst="line">
            <a:avLst/>
          </a:prstGeom>
          <a:noFill/>
          <a:ln w="19050">
            <a:solidFill>
              <a:srgbClr val="30459E"/>
            </a:solidFill>
            <a:prstDash val="solid"/>
          </a:ln>
        </p:spPr>
      </p:sp>
      <p:sp>
        <p:nvSpPr>
          <p:cNvPr id="47" name="Text 45"/>
          <p:cNvSpPr/>
          <p:nvPr/>
        </p:nvSpPr>
        <p:spPr>
          <a:xfrm>
            <a:off x="7315017" y="499262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Git</a:t>
            </a:r>
            <a:endParaRPr lang="en-US" sz="1200" dirty="0"/>
          </a:p>
        </p:txBody>
      </p:sp>
      <p:sp>
        <p:nvSpPr>
          <p:cNvPr id="48" name="Text 46"/>
          <p:cNvSpPr/>
          <p:nvPr/>
        </p:nvSpPr>
        <p:spPr>
          <a:xfrm>
            <a:off x="7315017" y="526694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Contrôle de version.</a:t>
            </a:r>
            <a:endParaRPr lang="en-US" sz="1000" dirty="0"/>
          </a:p>
        </p:txBody>
      </p:sp>
      <p:sp>
        <p:nvSpPr>
          <p:cNvPr id="49" name="Shape 47"/>
          <p:cNvSpPr/>
          <p:nvPr/>
        </p:nvSpPr>
        <p:spPr>
          <a:xfrm>
            <a:off x="9479036" y="4206240"/>
            <a:ext cx="566928" cy="566928"/>
          </a:xfrm>
          <a:prstGeom prst="roundRect">
            <a:avLst>
              <a:gd name="adj" fmla="val 12903"/>
            </a:avLst>
          </a:prstGeom>
          <a:solidFill>
            <a:srgbClr val="30459E"/>
          </a:solidFill>
          <a:ln/>
        </p:spPr>
      </p:sp>
      <p:sp>
        <p:nvSpPr>
          <p:cNvPr id="50" name="Text 48"/>
          <p:cNvSpPr/>
          <p:nvPr/>
        </p:nvSpPr>
        <p:spPr>
          <a:xfrm>
            <a:off x="9479036" y="420624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GH</a:t>
            </a:r>
            <a:endParaRPr lang="en-US" sz="1600" dirty="0"/>
          </a:p>
        </p:txBody>
      </p:sp>
      <p:sp>
        <p:nvSpPr>
          <p:cNvPr id="51" name="Shape 49"/>
          <p:cNvSpPr/>
          <p:nvPr/>
        </p:nvSpPr>
        <p:spPr>
          <a:xfrm>
            <a:off x="9479036" y="4919472"/>
            <a:ext cx="457200" cy="0"/>
          </a:xfrm>
          <a:prstGeom prst="line">
            <a:avLst/>
          </a:prstGeom>
          <a:noFill/>
          <a:ln w="19050">
            <a:solidFill>
              <a:srgbClr val="30459E"/>
            </a:solidFill>
            <a:prstDash val="solid"/>
          </a:ln>
        </p:spPr>
      </p:sp>
      <p:sp>
        <p:nvSpPr>
          <p:cNvPr id="52" name="Text 50"/>
          <p:cNvSpPr/>
          <p:nvPr/>
        </p:nvSpPr>
        <p:spPr>
          <a:xfrm>
            <a:off x="9479036" y="4992624"/>
            <a:ext cx="1752539" cy="27432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GitHub</a:t>
            </a:r>
            <a:endParaRPr lang="en-US" sz="1200" dirty="0"/>
          </a:p>
        </p:txBody>
      </p:sp>
      <p:sp>
        <p:nvSpPr>
          <p:cNvPr id="53" name="Text 51"/>
          <p:cNvSpPr/>
          <p:nvPr/>
        </p:nvSpPr>
        <p:spPr>
          <a:xfrm>
            <a:off x="9479036" y="5266944"/>
            <a:ext cx="1752539" cy="86868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Hébergement du dépôt.</a:t>
            </a:r>
            <a:endParaRPr lang="en-US" sz="1000" dirty="0"/>
          </a:p>
        </p:txBody>
      </p:sp>
      <p:sp>
        <p:nvSpPr>
          <p:cNvPr id="54" name="Text 52"/>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24.</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07</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Réalisation &amp; démo</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Démonstration vidéo et choix du module d'intelligence artificielle</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25.</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502920"/>
            <a:ext cx="1828800" cy="365760"/>
          </a:xfrm>
          <a:prstGeom prst="rect">
            <a:avLst/>
          </a:prstGeom>
          <a:noFill/>
          <a:ln/>
        </p:spPr>
        <p:txBody>
          <a:bodyPr wrap="square" lIns="0" tIns="0" rIns="0" bIns="0" rtlCol="0" anchor="ctr"/>
          <a:lstStyle/>
          <a:p>
            <a:pPr indent="0" marL="0">
              <a:buNone/>
            </a:pPr>
            <a:r>
              <a:rPr lang="en-US" sz="1300" b="1" dirty="0">
                <a:solidFill>
                  <a:srgbClr val="C7CEEA"/>
                </a:solidFill>
                <a:latin typeface="Arial" pitchFamily="34" charset="0"/>
                <a:ea typeface="Arial" pitchFamily="34" charset="-122"/>
                <a:cs typeface="Arial" pitchFamily="34" charset="-120"/>
              </a:rPr>
              <a:t>7.1</a:t>
            </a:r>
            <a:endParaRPr lang="en-US" sz="1300" dirty="0"/>
          </a:p>
        </p:txBody>
      </p:sp>
      <p:sp>
        <p:nvSpPr>
          <p:cNvPr id="3" name="Text 1"/>
          <p:cNvSpPr/>
          <p:nvPr/>
        </p:nvSpPr>
        <p:spPr>
          <a:xfrm>
            <a:off x="822960" y="868680"/>
            <a:ext cx="5120640" cy="1188720"/>
          </a:xfrm>
          <a:prstGeom prst="rect">
            <a:avLst/>
          </a:prstGeom>
          <a:noFill/>
          <a:ln/>
        </p:spPr>
        <p:txBody>
          <a:bodyPr wrap="square" lIns="0" tIns="0" rIns="0" bIns="0" rtlCol="0" anchor="ctr"/>
          <a:lstStyle/>
          <a:p>
            <a:pPr indent="0" marL="0">
              <a:lnSpc>
                <a:spcPts val="3100"/>
              </a:lnSpc>
              <a:buNone/>
            </a:pPr>
            <a:r>
              <a:rPr lang="en-US" sz="2800" b="1" dirty="0">
                <a:solidFill>
                  <a:srgbClr val="FFFFFF"/>
                </a:solidFill>
                <a:latin typeface="Arial" pitchFamily="34" charset="0"/>
                <a:ea typeface="Arial" pitchFamily="34" charset="-122"/>
                <a:cs typeface="Arial" pitchFamily="34" charset="-120"/>
              </a:rPr>
              <a:t>Démonstration</a:t>
            </a:r>
            <a:endParaRPr lang="en-US" sz="2800" dirty="0"/>
          </a:p>
        </p:txBody>
      </p:sp>
      <p:sp>
        <p:nvSpPr>
          <p:cNvPr id="4" name="Text 2"/>
          <p:cNvSpPr/>
          <p:nvPr/>
        </p:nvSpPr>
        <p:spPr>
          <a:xfrm>
            <a:off x="822960" y="2103120"/>
            <a:ext cx="5120640" cy="1645920"/>
          </a:xfrm>
          <a:prstGeom prst="rect">
            <a:avLst/>
          </a:prstGeom>
          <a:noFill/>
          <a:ln/>
        </p:spPr>
        <p:txBody>
          <a:bodyPr wrap="square" lIns="0" tIns="0" rIns="0" bIns="0" rtlCol="0" anchor="ctr"/>
          <a:lstStyle/>
          <a:p>
            <a:pPr indent="0" marL="0">
              <a:lnSpc>
                <a:spcPts val="1700"/>
              </a:lnSpc>
              <a:buNone/>
            </a:pPr>
            <a:r>
              <a:rPr lang="en-US" sz="1250" dirty="0">
                <a:solidFill>
                  <a:srgbClr val="E4E7F7"/>
                </a:solidFill>
                <a:latin typeface="Arial" pitchFamily="34" charset="0"/>
                <a:ea typeface="Arial" pitchFamily="34" charset="-122"/>
                <a:cs typeface="Arial" pitchFamily="34" charset="-120"/>
              </a:rPr>
              <a:t>La démonstration se fait par une vidéo présentant les parcours clés de la plateforme, commentée en direct le jour de la soutenance.</a:t>
            </a:r>
            <a:endParaRPr lang="en-US" sz="1250" dirty="0"/>
          </a:p>
          <a:p>
            <a:pPr indent="0" marL="0">
              <a:lnSpc>
                <a:spcPts val="1700"/>
              </a:lnSpc>
              <a:buNone/>
            </a:pPr>
            <a:endParaRPr lang="en-US" sz="1250" dirty="0"/>
          </a:p>
          <a:p>
            <a:pPr indent="0" marL="0">
              <a:lnSpc>
                <a:spcPts val="1700"/>
              </a:lnSpc>
              <a:buNone/>
            </a:pPr>
            <a:r>
              <a:rPr lang="en-US" sz="1250" dirty="0">
                <a:solidFill>
                  <a:srgbClr val="E4E7F7"/>
                </a:solidFill>
                <a:latin typeface="Arial" pitchFamily="34" charset="0"/>
                <a:ea typeface="Arial" pitchFamily="34" charset="-122"/>
                <a:cs typeface="Arial" pitchFamily="34" charset="-120"/>
              </a:rPr>
              <a:t>▶ Vidéo de démonstration — insérée / lue en direct pendant la soutenance.</a:t>
            </a:r>
            <a:endParaRPr lang="en-US" sz="1250" dirty="0"/>
          </a:p>
        </p:txBody>
      </p:sp>
      <p:sp>
        <p:nvSpPr>
          <p:cNvPr id="5" name="Shape 3"/>
          <p:cNvSpPr/>
          <p:nvPr/>
        </p:nvSpPr>
        <p:spPr>
          <a:xfrm>
            <a:off x="6309360" y="1005840"/>
            <a:ext cx="5242255" cy="1524000"/>
          </a:xfrm>
          <a:prstGeom prst="roundRect">
            <a:avLst>
              <a:gd name="adj" fmla="val 3600"/>
            </a:avLst>
          </a:prstGeom>
          <a:solidFill>
            <a:srgbClr val="FFFFFF"/>
          </a:solidFill>
          <a:ln/>
        </p:spPr>
      </p:sp>
      <p:sp>
        <p:nvSpPr>
          <p:cNvPr id="6" name="Text 4"/>
          <p:cNvSpPr/>
          <p:nvPr/>
        </p:nvSpPr>
        <p:spPr>
          <a:xfrm>
            <a:off x="6492240" y="1078992"/>
            <a:ext cx="640080" cy="1377696"/>
          </a:xfrm>
          <a:prstGeom prst="rect">
            <a:avLst/>
          </a:prstGeom>
          <a:noFill/>
          <a:ln/>
        </p:spPr>
        <p:txBody>
          <a:bodyPr wrap="square" lIns="0" tIns="0" rIns="0" bIns="0" rtlCol="0" anchor="t"/>
          <a:lstStyle/>
          <a:p>
            <a:pPr indent="0" marL="0">
              <a:buNone/>
            </a:pPr>
            <a:r>
              <a:rPr lang="en-US" sz="1800" b="1" dirty="0">
                <a:solidFill>
                  <a:srgbClr val="30459E"/>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7178040" y="1097280"/>
            <a:ext cx="4190695"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Agent</a:t>
            </a:r>
            <a:endParaRPr lang="en-US" sz="1250" dirty="0"/>
          </a:p>
        </p:txBody>
      </p:sp>
      <p:sp>
        <p:nvSpPr>
          <p:cNvPr id="8" name="Text 6"/>
          <p:cNvSpPr/>
          <p:nvPr/>
        </p:nvSpPr>
        <p:spPr>
          <a:xfrm>
            <a:off x="7178040" y="1389888"/>
            <a:ext cx="4190695" cy="1066800"/>
          </a:xfrm>
          <a:prstGeom prst="rect">
            <a:avLst/>
          </a:prstGeom>
          <a:noFill/>
          <a:ln/>
        </p:spPr>
        <p:txBody>
          <a:bodyPr wrap="square" lIns="0" tIns="0" rIns="0" bIns="0" rtlCol="0" anchor="ctr"/>
          <a:lstStyle/>
          <a:p>
            <a:pPr indent="0" marL="0">
              <a:lnSpc>
                <a:spcPts val="1300"/>
              </a:lnSpc>
              <a:buNone/>
            </a:pPr>
            <a:r>
              <a:rPr lang="en-US" sz="1050" dirty="0">
                <a:solidFill>
                  <a:srgbClr val="333333"/>
                </a:solidFill>
                <a:latin typeface="Arial" pitchFamily="34" charset="0"/>
                <a:ea typeface="Arial" pitchFamily="34" charset="-122"/>
                <a:cs typeface="Arial" pitchFamily="34" charset="-120"/>
              </a:rPr>
              <a:t>Connexion → appel en direct → qualification d’un contact → prise de rendez-vous.</a:t>
            </a:r>
            <a:endParaRPr lang="en-US" sz="1050" dirty="0"/>
          </a:p>
        </p:txBody>
      </p:sp>
      <p:sp>
        <p:nvSpPr>
          <p:cNvPr id="9" name="Shape 7"/>
          <p:cNvSpPr/>
          <p:nvPr/>
        </p:nvSpPr>
        <p:spPr>
          <a:xfrm>
            <a:off x="6309360" y="2758440"/>
            <a:ext cx="5242255" cy="1524000"/>
          </a:xfrm>
          <a:prstGeom prst="roundRect">
            <a:avLst>
              <a:gd name="adj" fmla="val 3600"/>
            </a:avLst>
          </a:prstGeom>
          <a:solidFill>
            <a:srgbClr val="FFFFFF"/>
          </a:solidFill>
          <a:ln/>
        </p:spPr>
      </p:sp>
      <p:sp>
        <p:nvSpPr>
          <p:cNvPr id="10" name="Text 8"/>
          <p:cNvSpPr/>
          <p:nvPr/>
        </p:nvSpPr>
        <p:spPr>
          <a:xfrm>
            <a:off x="6492240" y="2831592"/>
            <a:ext cx="640080" cy="1377696"/>
          </a:xfrm>
          <a:prstGeom prst="rect">
            <a:avLst/>
          </a:prstGeom>
          <a:noFill/>
          <a:ln/>
        </p:spPr>
        <p:txBody>
          <a:bodyPr wrap="square" lIns="0" tIns="0" rIns="0" bIns="0" rtlCol="0" anchor="t"/>
          <a:lstStyle/>
          <a:p>
            <a:pPr indent="0" marL="0">
              <a:buNone/>
            </a:pPr>
            <a:r>
              <a:rPr lang="en-US" sz="1800" b="1" dirty="0">
                <a:solidFill>
                  <a:srgbClr val="30459E"/>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7178040" y="2849880"/>
            <a:ext cx="4190695"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Confirmatrice</a:t>
            </a:r>
            <a:endParaRPr lang="en-US" sz="1250" dirty="0"/>
          </a:p>
        </p:txBody>
      </p:sp>
      <p:sp>
        <p:nvSpPr>
          <p:cNvPr id="12" name="Text 10"/>
          <p:cNvSpPr/>
          <p:nvPr/>
        </p:nvSpPr>
        <p:spPr>
          <a:xfrm>
            <a:off x="7178040" y="3142488"/>
            <a:ext cx="4190695" cy="1066800"/>
          </a:xfrm>
          <a:prstGeom prst="rect">
            <a:avLst/>
          </a:prstGeom>
          <a:noFill/>
          <a:ln/>
        </p:spPr>
        <p:txBody>
          <a:bodyPr wrap="square" lIns="0" tIns="0" rIns="0" bIns="0" rtlCol="0" anchor="ctr"/>
          <a:lstStyle/>
          <a:p>
            <a:pPr indent="0" marL="0">
              <a:lnSpc>
                <a:spcPts val="1300"/>
              </a:lnSpc>
              <a:buNone/>
            </a:pPr>
            <a:r>
              <a:rPr lang="en-US" sz="1050" dirty="0">
                <a:solidFill>
                  <a:srgbClr val="333333"/>
                </a:solidFill>
                <a:latin typeface="Arial" pitchFamily="34" charset="0"/>
                <a:ea typeface="Arial" pitchFamily="34" charset="-122"/>
                <a:cs typeface="Arial" pitchFamily="34" charset="-120"/>
              </a:rPr>
              <a:t>Agenda EBI/Client → confirmation d’un rendez-vous → fiche contact détaillée.</a:t>
            </a:r>
            <a:endParaRPr lang="en-US" sz="1050" dirty="0"/>
          </a:p>
        </p:txBody>
      </p:sp>
      <p:sp>
        <p:nvSpPr>
          <p:cNvPr id="13" name="Shape 11"/>
          <p:cNvSpPr/>
          <p:nvPr/>
        </p:nvSpPr>
        <p:spPr>
          <a:xfrm>
            <a:off x="6309360" y="4511040"/>
            <a:ext cx="5242255" cy="1524000"/>
          </a:xfrm>
          <a:prstGeom prst="roundRect">
            <a:avLst>
              <a:gd name="adj" fmla="val 3600"/>
            </a:avLst>
          </a:prstGeom>
          <a:solidFill>
            <a:srgbClr val="FFFFFF"/>
          </a:solidFill>
          <a:ln/>
        </p:spPr>
      </p:sp>
      <p:sp>
        <p:nvSpPr>
          <p:cNvPr id="14" name="Text 12"/>
          <p:cNvSpPr/>
          <p:nvPr/>
        </p:nvSpPr>
        <p:spPr>
          <a:xfrm>
            <a:off x="6492240" y="4584192"/>
            <a:ext cx="640080" cy="1377696"/>
          </a:xfrm>
          <a:prstGeom prst="rect">
            <a:avLst/>
          </a:prstGeom>
          <a:noFill/>
          <a:ln/>
        </p:spPr>
        <p:txBody>
          <a:bodyPr wrap="square" lIns="0" tIns="0" rIns="0" bIns="0" rtlCol="0" anchor="t"/>
          <a:lstStyle/>
          <a:p>
            <a:pPr indent="0" marL="0">
              <a:buNone/>
            </a:pPr>
            <a:r>
              <a:rPr lang="en-US" sz="1800" b="1" dirty="0">
                <a:solidFill>
                  <a:srgbClr val="30459E"/>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7178040" y="4602480"/>
            <a:ext cx="4190695" cy="292608"/>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Qualité &amp; Chat</a:t>
            </a:r>
            <a:endParaRPr lang="en-US" sz="1250" dirty="0"/>
          </a:p>
        </p:txBody>
      </p:sp>
      <p:sp>
        <p:nvSpPr>
          <p:cNvPr id="16" name="Text 14"/>
          <p:cNvSpPr/>
          <p:nvPr/>
        </p:nvSpPr>
        <p:spPr>
          <a:xfrm>
            <a:off x="7178040" y="4895088"/>
            <a:ext cx="4190695" cy="1066800"/>
          </a:xfrm>
          <a:prstGeom prst="rect">
            <a:avLst/>
          </a:prstGeom>
          <a:noFill/>
          <a:ln/>
        </p:spPr>
        <p:txBody>
          <a:bodyPr wrap="square" lIns="0" tIns="0" rIns="0" bIns="0" rtlCol="0" anchor="ctr"/>
          <a:lstStyle/>
          <a:p>
            <a:pPr indent="0" marL="0">
              <a:lnSpc>
                <a:spcPts val="1300"/>
              </a:lnSpc>
              <a:buNone/>
            </a:pPr>
            <a:r>
              <a:rPr lang="en-US" sz="1050" dirty="0">
                <a:solidFill>
                  <a:srgbClr val="333333"/>
                </a:solidFill>
                <a:latin typeface="Arial" pitchFamily="34" charset="0"/>
                <a:ea typeface="Arial" pitchFamily="34" charset="-122"/>
                <a:cs typeface="Arial" pitchFamily="34" charset="-120"/>
              </a:rPr>
              <a:t>Évaluation d’un appel d’agent, puis démonstration de la messagerie d’équipe temps réel.</a:t>
            </a:r>
            <a:endParaRPr lang="en-US" sz="1050" dirty="0"/>
          </a:p>
        </p:txBody>
      </p:sp>
      <p:sp>
        <p:nvSpPr>
          <p:cNvPr id="17" name="Text 15"/>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26.</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365760"/>
            <a:ext cx="27432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7.2</a:t>
            </a:r>
            <a:endParaRPr lang="en-US" sz="1300" dirty="0"/>
          </a:p>
        </p:txBody>
      </p:sp>
      <p:sp>
        <p:nvSpPr>
          <p:cNvPr id="3" name="Text 1"/>
          <p:cNvSpPr/>
          <p:nvPr/>
        </p:nvSpPr>
        <p:spPr>
          <a:xfrm>
            <a:off x="822960" y="658368"/>
            <a:ext cx="9875520" cy="548640"/>
          </a:xfrm>
          <a:prstGeom prst="rect">
            <a:avLst/>
          </a:prstGeom>
          <a:noFill/>
          <a:ln/>
        </p:spPr>
        <p:txBody>
          <a:bodyPr wrap="square" lIns="0" tIns="0" rIns="0" bIns="0" rtlCol="0" anchor="ctr"/>
          <a:lstStyle/>
          <a:p>
            <a:pPr indent="0" marL="0">
              <a:buNone/>
            </a:pPr>
            <a:r>
              <a:rPr lang="en-US" sz="2400" b="1" dirty="0">
                <a:solidFill>
                  <a:srgbClr val="111111"/>
                </a:solidFill>
                <a:latin typeface="Arial" pitchFamily="34" charset="0"/>
                <a:ea typeface="Arial" pitchFamily="34" charset="-122"/>
                <a:cs typeface="Arial" pitchFamily="34" charset="-120"/>
              </a:rPr>
              <a:t>Choix de l’algorithme IA (scoring des leads)</a:t>
            </a:r>
            <a:endParaRPr lang="en-US" sz="2400" dirty="0"/>
          </a:p>
        </p:txBody>
      </p:sp>
      <p:sp>
        <p:nvSpPr>
          <p:cNvPr id="4" name="Text 2"/>
          <p:cNvSpPr/>
          <p:nvPr/>
        </p:nvSpPr>
        <p:spPr>
          <a:xfrm>
            <a:off x="822960" y="1143000"/>
            <a:ext cx="10424160" cy="457200"/>
          </a:xfrm>
          <a:prstGeom prst="rect">
            <a:avLst/>
          </a:prstGeom>
          <a:noFill/>
          <a:ln/>
        </p:spPr>
        <p:txBody>
          <a:bodyPr wrap="square" lIns="0" tIns="0" rIns="0" bIns="0" rtlCol="0" anchor="ctr"/>
          <a:lstStyle/>
          <a:p>
            <a:pPr indent="0" marL="0">
              <a:lnSpc>
                <a:spcPts val="1400"/>
              </a:lnSpc>
              <a:buNone/>
            </a:pPr>
            <a:r>
              <a:rPr lang="en-US" sz="1100" dirty="0">
                <a:solidFill>
                  <a:srgbClr val="1A1A1A"/>
                </a:solidFill>
                <a:latin typeface="Arial" pitchFamily="34" charset="0"/>
                <a:ea typeface="Arial" pitchFamily="34" charset="-122"/>
                <a:cs typeface="Arial" pitchFamily="34" charset="-120"/>
              </a:rPr>
              <a:t>Modèle retenu : RandomForestClassifier (scikit-learn) — 200 arbres, profondeur max. 6, class_weight="balanced" pour compenser le déséquilibre RDV obtenus / refus.</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822960" y="1737360"/>
          <a:ext cx="10424160" cy="914400"/>
        </p:xfrm>
        <a:graphic>
          <a:graphicData uri="http://schemas.openxmlformats.org/drawingml/2006/table">
            <a:tbl>
              <a:tblPr/>
              <a:tblGrid>
                <a:gridCol w="2926080"/>
                <a:gridCol w="2496312"/>
                <a:gridCol w="2496312"/>
                <a:gridCol w="2505456"/>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Modèle</a:t>
                      </a:r>
                      <a:endParaRPr lang="en-US" sz="110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Adapté à peu de données</a:t>
                      </a:r>
                      <a:endParaRPr lang="en-US" sz="110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Interprétable</a:t>
                      </a:r>
                      <a:endParaRPr lang="en-US" sz="110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Mixte num./catégoriel</a:t>
                      </a:r>
                      <a:endParaRPr lang="en-US" sz="110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r>
              <a:tr h="0">
                <a:tc>
                  <a:txBody>
                    <a:bodyPr/>
                    <a:lstStyle/>
                    <a:p>
                      <a:pPr algn="l" indent="0" marL="0">
                        <a:buNone/>
                      </a:pPr>
                      <a:r>
                        <a:rPr lang="en-US" sz="1050" b="1" dirty="0">
                          <a:solidFill>
                            <a:srgbClr val="1A1A1A"/>
                          </a:solidFill>
                          <a:latin typeface="Arial" pitchFamily="34" charset="0"/>
                          <a:ea typeface="Arial" pitchFamily="34" charset="-122"/>
                          <a:cs typeface="Arial" pitchFamily="34" charset="-120"/>
                        </a:rPr>
                        <a:t>Régression logistique</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Oui</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Oui</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Nécessite encodage manuel</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Random Forest (retenu)</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Oui</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Oui (importance des variables)</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Natif</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30459E"/>
                    </a:solidFill>
                  </a:tcPr>
                </a:tc>
              </a:tr>
              <a:tr h="0">
                <a:tc>
                  <a:txBody>
                    <a:bodyPr/>
                    <a:lstStyle/>
                    <a:p>
                      <a:pPr algn="l" indent="0" marL="0">
                        <a:buNone/>
                      </a:pPr>
                      <a:r>
                        <a:rPr lang="en-US" sz="1050" b="1" dirty="0">
                          <a:solidFill>
                            <a:srgbClr val="1A1A1A"/>
                          </a:solidFill>
                          <a:latin typeface="Arial" pitchFamily="34" charset="0"/>
                          <a:ea typeface="Arial" pitchFamily="34" charset="-122"/>
                          <a:cs typeface="Arial" pitchFamily="34" charset="-120"/>
                        </a:rPr>
                        <a:t>Réseau de neurones</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Non (besoin de volume)</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Non (boîte noire)</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Arial" pitchFamily="34" charset="0"/>
                          <a:ea typeface="Arial" pitchFamily="34" charset="-122"/>
                          <a:cs typeface="Arial" pitchFamily="34" charset="-120"/>
                        </a:rPr>
                        <a:t>Nécessite normalisation</a:t>
                      </a:r>
                      <a:endParaRPr lang="en-US" sz="1050" dirty="0">
                        <a:latin typeface="Arial" charset="0"/>
                        <a:ea typeface="Arial" charset="0"/>
                        <a:cs typeface="Arial" charset="0"/>
                      </a:endParaRPr>
                    </a:p>
                  </a:txBody>
                  <a:tcPr marL="91440" marR="91440" marT="45720" marB="45720" anchor="ctr">
                    <a:lnL w="9525" cap="flat" cmpd="sng" algn="ctr">
                      <a:solidFill>
                        <a:srgbClr val="DADADA"/>
                      </a:solidFill>
                      <a:prstDash val="solid"/>
                      <a:round/>
                      <a:headEnd type="none" w="med" len="med"/>
                      <a:tailEnd type="none" w="med" len="med"/>
                    </a:lnL>
                    <a:lnR w="9525" cap="flat" cmpd="sng" algn="ctr">
                      <a:solidFill>
                        <a:srgbClr val="DADADA"/>
                      </a:solidFill>
                      <a:prstDash val="solid"/>
                      <a:round/>
                      <a:headEnd type="none" w="med" len="med"/>
                      <a:tailEnd type="none" w="med" len="med"/>
                    </a:lnR>
                    <a:lnT w="9525" cap="flat" cmpd="sng" algn="ctr">
                      <a:solidFill>
                        <a:srgbClr val="DADADA"/>
                      </a:solidFill>
                      <a:prstDash val="solid"/>
                      <a:round/>
                      <a:headEnd type="none" w="med" len="med"/>
                      <a:tailEnd type="none" w="med" len="med"/>
                    </a:lnT>
                    <a:lnB w="9525" cap="flat" cmpd="sng" algn="ctr">
                      <a:solidFill>
                        <a:srgbClr val="DADADA"/>
                      </a:solidFill>
                      <a:prstDash val="solid"/>
                      <a:round/>
                      <a:headEnd type="none" w="med" len="med"/>
                      <a:tailEnd type="none" w="med" len="med"/>
                    </a:lnB>
                    <a:solidFill>
                      <a:srgbClr val="FFFFFF"/>
                    </a:solidFill>
                  </a:tcPr>
                </a:tc>
              </a:tr>
            </a:tbl>
          </a:graphicData>
        </a:graphic>
      </p:graphicFrame>
      <p:sp>
        <p:nvSpPr>
          <p:cNvPr id="6" name="Text 3"/>
          <p:cNvSpPr/>
          <p:nvPr/>
        </p:nvSpPr>
        <p:spPr>
          <a:xfrm>
            <a:off x="822960" y="4846320"/>
            <a:ext cx="10424160" cy="1463040"/>
          </a:xfrm>
          <a:prstGeom prst="rect">
            <a:avLst/>
          </a:prstGeom>
          <a:noFill/>
          <a:ln/>
        </p:spPr>
        <p:txBody>
          <a:bodyPr wrap="square" lIns="0" tIns="0" rIns="0" bIns="0" rtlCol="0" anchor="ctr"/>
          <a:lstStyle/>
          <a:p>
            <a:pPr marL="177800" indent="-177800">
              <a:lnSpc>
                <a:spcPts val="1500"/>
              </a:lnSpc>
              <a:buSzPct val="100000"/>
              <a:buChar char="•"/>
            </a:pPr>
            <a:r>
              <a:rPr lang="en-US" sz="1100" dirty="0">
                <a:solidFill>
                  <a:srgbClr val="1A1A1A"/>
                </a:solidFill>
                <a:latin typeface="Arial" pitchFamily="34" charset="0"/>
                <a:ea typeface="Arial" pitchFamily="34" charset="-122"/>
                <a:cs typeface="Arial" pitchFamily="34" charset="-120"/>
              </a:rPr>
              <a:t>Robuste au bruit et fiable même avec un volume de données modéré — pertinent en phase de démarrage du CRM.</a:t>
            </a:r>
            <a:endParaRPr lang="en-US" sz="1100" dirty="0"/>
          </a:p>
          <a:p>
            <a:pPr marL="177800" indent="-177800">
              <a:lnSpc>
                <a:spcPts val="1500"/>
              </a:lnSpc>
              <a:buSzPct val="100000"/>
              <a:buChar char="•"/>
            </a:pPr>
            <a:r>
              <a:rPr lang="en-US" sz="1100" dirty="0">
                <a:solidFill>
                  <a:srgbClr val="1A1A1A"/>
                </a:solidFill>
                <a:latin typeface="Arial" pitchFamily="34" charset="0"/>
                <a:ea typeface="Arial" pitchFamily="34" charset="-122"/>
                <a:cs typeface="Arial" pitchFamily="34" charset="-120"/>
              </a:rPr>
              <a:t>Résultat interprétable (importance des variables) : utile pour expliquer aux équipes pourquoi un lead est bien scoré.</a:t>
            </a:r>
            <a:endParaRPr lang="en-US" sz="1100" dirty="0"/>
          </a:p>
          <a:p>
            <a:pPr marL="177800" indent="-177800">
              <a:lnSpc>
                <a:spcPts val="1500"/>
              </a:lnSpc>
              <a:buSzPct val="100000"/>
              <a:buChar char="•"/>
            </a:pPr>
            <a:r>
              <a:rPr lang="en-US" sz="1100" dirty="0">
                <a:solidFill>
                  <a:srgbClr val="1A1A1A"/>
                </a:solidFill>
                <a:latin typeface="Arial" pitchFamily="34" charset="0"/>
                <a:ea typeface="Arial" pitchFamily="34" charset="-122"/>
                <a:cs typeface="Arial" pitchFamily="34" charset="-120"/>
              </a:rPr>
              <a:t>Entraînement et inférence rapides, sans infrastructure GPU — adapté au budget IT d’une PME.</a:t>
            </a:r>
            <a:endParaRPr lang="en-US" sz="1100" dirty="0"/>
          </a:p>
        </p:txBody>
      </p:sp>
      <p:sp>
        <p:nvSpPr>
          <p:cNvPr id="7" name="Text 4"/>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27.</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Mécanisme de calcul du score IA</a:t>
            </a:r>
            <a:endParaRPr lang="en-US" sz="3000" dirty="0"/>
          </a:p>
        </p:txBody>
      </p:sp>
      <p:sp>
        <p:nvSpPr>
          <p:cNvPr id="3" name="Text 1"/>
          <p:cNvSpPr/>
          <p:nvPr/>
        </p:nvSpPr>
        <p:spPr>
          <a:xfrm>
            <a:off x="1188720" y="1234440"/>
            <a:ext cx="9784080" cy="548640"/>
          </a:xfrm>
          <a:prstGeom prst="rect">
            <a:avLst/>
          </a:prstGeom>
          <a:noFill/>
          <a:ln/>
        </p:spPr>
        <p:txBody>
          <a:bodyPr wrap="square" lIns="0" tIns="0" rIns="0" bIns="0" rtlCol="0" anchor="ctr"/>
          <a:lstStyle/>
          <a:p>
            <a:pPr algn="ctr" indent="0" marL="0">
              <a:buNone/>
            </a:pPr>
            <a:r>
              <a:rPr lang="en-US" sz="1200" dirty="0">
                <a:solidFill>
                  <a:srgbClr val="DEE3F7"/>
                </a:solidFill>
                <a:latin typeface="Arial" pitchFamily="34" charset="0"/>
                <a:ea typeface="Arial" pitchFamily="34" charset="-122"/>
                <a:cs typeface="Arial" pitchFamily="34" charset="-120"/>
              </a:rPr>
              <a:t>Exemple : chauffage fioul (énergivore), chaudière 14 ans, non équipé PV, 4 personnes → score heuristique = 50 + 15 + 10 + 5 + 5 = 85 / 100</a:t>
            </a:r>
            <a:endParaRPr lang="en-US" sz="1200" dirty="0"/>
          </a:p>
        </p:txBody>
      </p:sp>
      <p:sp>
        <p:nvSpPr>
          <p:cNvPr id="4" name="Shape 2"/>
          <p:cNvSpPr/>
          <p:nvPr/>
        </p:nvSpPr>
        <p:spPr>
          <a:xfrm>
            <a:off x="822960" y="1965960"/>
            <a:ext cx="5112868" cy="2034540"/>
          </a:xfrm>
          <a:prstGeom prst="roundRect">
            <a:avLst>
              <a:gd name="adj" fmla="val 2697"/>
            </a:avLst>
          </a:prstGeom>
          <a:solidFill>
            <a:srgbClr val="F2F2F2"/>
          </a:solidFill>
          <a:ln/>
        </p:spPr>
      </p:sp>
      <p:sp>
        <p:nvSpPr>
          <p:cNvPr id="5" name="Text 3"/>
          <p:cNvSpPr/>
          <p:nvPr/>
        </p:nvSpPr>
        <p:spPr>
          <a:xfrm>
            <a:off x="987552" y="205740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1</a:t>
            </a:r>
            <a:endParaRPr lang="en-US" sz="1900" dirty="0"/>
          </a:p>
        </p:txBody>
      </p:sp>
      <p:sp>
        <p:nvSpPr>
          <p:cNvPr id="6" name="Text 4"/>
          <p:cNvSpPr/>
          <p:nvPr/>
        </p:nvSpPr>
        <p:spPr>
          <a:xfrm>
            <a:off x="987552" y="240487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Encodage du contact</a:t>
            </a:r>
            <a:endParaRPr lang="en-US" sz="1250" dirty="0"/>
          </a:p>
        </p:txBody>
      </p:sp>
      <p:sp>
        <p:nvSpPr>
          <p:cNvPr id="7" name="Text 5"/>
          <p:cNvSpPr/>
          <p:nvPr/>
        </p:nvSpPr>
        <p:spPr>
          <a:xfrm>
            <a:off x="987552" y="271576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Chaque contact est transformé en vecteur de 9 caractéristiques normalisées : type de chauffage, âge de la chaudière, équipement PV/PAC, surface, nombre de personnes, revenu, historique NRP.</a:t>
            </a:r>
            <a:endParaRPr lang="en-US" sz="1000" dirty="0"/>
          </a:p>
        </p:txBody>
      </p:sp>
      <p:sp>
        <p:nvSpPr>
          <p:cNvPr id="8" name="Shape 6"/>
          <p:cNvSpPr/>
          <p:nvPr/>
        </p:nvSpPr>
        <p:spPr>
          <a:xfrm>
            <a:off x="6255868" y="1965960"/>
            <a:ext cx="5112868" cy="2034540"/>
          </a:xfrm>
          <a:prstGeom prst="roundRect">
            <a:avLst>
              <a:gd name="adj" fmla="val 2697"/>
            </a:avLst>
          </a:prstGeom>
          <a:solidFill>
            <a:srgbClr val="F2F2F2"/>
          </a:solidFill>
          <a:ln/>
        </p:spPr>
      </p:sp>
      <p:sp>
        <p:nvSpPr>
          <p:cNvPr id="9" name="Text 7"/>
          <p:cNvSpPr/>
          <p:nvPr/>
        </p:nvSpPr>
        <p:spPr>
          <a:xfrm>
            <a:off x="6420460" y="205740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2</a:t>
            </a:r>
            <a:endParaRPr lang="en-US" sz="1900" dirty="0"/>
          </a:p>
        </p:txBody>
      </p:sp>
      <p:sp>
        <p:nvSpPr>
          <p:cNvPr id="10" name="Text 8"/>
          <p:cNvSpPr/>
          <p:nvPr/>
        </p:nvSpPr>
        <p:spPr>
          <a:xfrm>
            <a:off x="6420460" y="240487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Entraînement (dès 50 contacts étiquetés)</a:t>
            </a:r>
            <a:endParaRPr lang="en-US" sz="1250" dirty="0"/>
          </a:p>
        </p:txBody>
      </p:sp>
      <p:sp>
        <p:nvSpPr>
          <p:cNvPr id="11" name="Text 9"/>
          <p:cNvSpPr/>
          <p:nvPr/>
        </p:nvSpPr>
        <p:spPr>
          <a:xfrm>
            <a:off x="6420460" y="271576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POST /train déclenche une validation croisée à 5 plis (AUC-ROC) puis l’entraînement du modèle, sauvegardé sur disque (lead_scoring.pkl).</a:t>
            </a:r>
            <a:endParaRPr lang="en-US" sz="1000" dirty="0"/>
          </a:p>
        </p:txBody>
      </p:sp>
      <p:sp>
        <p:nvSpPr>
          <p:cNvPr id="12" name="Shape 10"/>
          <p:cNvSpPr/>
          <p:nvPr/>
        </p:nvSpPr>
        <p:spPr>
          <a:xfrm>
            <a:off x="822960" y="4320540"/>
            <a:ext cx="5112868" cy="2034540"/>
          </a:xfrm>
          <a:prstGeom prst="roundRect">
            <a:avLst>
              <a:gd name="adj" fmla="val 2697"/>
            </a:avLst>
          </a:prstGeom>
          <a:solidFill>
            <a:srgbClr val="F2F2F2"/>
          </a:solidFill>
          <a:ln/>
        </p:spPr>
      </p:sp>
      <p:sp>
        <p:nvSpPr>
          <p:cNvPr id="13" name="Text 11"/>
          <p:cNvSpPr/>
          <p:nvPr/>
        </p:nvSpPr>
        <p:spPr>
          <a:xfrm>
            <a:off x="987552" y="441198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3</a:t>
            </a:r>
            <a:endParaRPr lang="en-US" sz="1900" dirty="0"/>
          </a:p>
        </p:txBody>
      </p:sp>
      <p:sp>
        <p:nvSpPr>
          <p:cNvPr id="14" name="Text 12"/>
          <p:cNvSpPr/>
          <p:nvPr/>
        </p:nvSpPr>
        <p:spPr>
          <a:xfrm>
            <a:off x="987552" y="475945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Prédiction en production</a:t>
            </a:r>
            <a:endParaRPr lang="en-US" sz="1250" dirty="0"/>
          </a:p>
        </p:txBody>
      </p:sp>
      <p:sp>
        <p:nvSpPr>
          <p:cNvPr id="15" name="Text 13"/>
          <p:cNvSpPr/>
          <p:nvPr/>
        </p:nvSpPr>
        <p:spPr>
          <a:xfrm>
            <a:off x="987552" y="507034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Score = RandomForest.predict_proba(vecteur) x 100 — probabilité que le contact obtienne un rendez-vous.</a:t>
            </a:r>
            <a:endParaRPr lang="en-US" sz="1000" dirty="0"/>
          </a:p>
        </p:txBody>
      </p:sp>
      <p:sp>
        <p:nvSpPr>
          <p:cNvPr id="16" name="Shape 14"/>
          <p:cNvSpPr/>
          <p:nvPr/>
        </p:nvSpPr>
        <p:spPr>
          <a:xfrm>
            <a:off x="6255868" y="4320540"/>
            <a:ext cx="5112868" cy="2034540"/>
          </a:xfrm>
          <a:prstGeom prst="roundRect">
            <a:avLst>
              <a:gd name="adj" fmla="val 2697"/>
            </a:avLst>
          </a:prstGeom>
          <a:solidFill>
            <a:srgbClr val="F2F2F2"/>
          </a:solidFill>
          <a:ln/>
        </p:spPr>
      </p:sp>
      <p:sp>
        <p:nvSpPr>
          <p:cNvPr id="17" name="Text 15"/>
          <p:cNvSpPr/>
          <p:nvPr/>
        </p:nvSpPr>
        <p:spPr>
          <a:xfrm>
            <a:off x="6420460" y="441198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4</a:t>
            </a:r>
            <a:endParaRPr lang="en-US" sz="1900" dirty="0"/>
          </a:p>
        </p:txBody>
      </p:sp>
      <p:sp>
        <p:nvSpPr>
          <p:cNvPr id="18" name="Text 16"/>
          <p:cNvSpPr/>
          <p:nvPr/>
        </p:nvSpPr>
        <p:spPr>
          <a:xfrm>
            <a:off x="6420460" y="475945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Repli heuristique (cold start)</a:t>
            </a:r>
            <a:endParaRPr lang="en-US" sz="1250" dirty="0"/>
          </a:p>
        </p:txBody>
      </p:sp>
      <p:sp>
        <p:nvSpPr>
          <p:cNvPr id="19" name="Text 17"/>
          <p:cNvSpPr/>
          <p:nvPr/>
        </p:nvSpPr>
        <p:spPr>
          <a:xfrm>
            <a:off x="6420460" y="5070348"/>
            <a:ext cx="4783684" cy="116586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Tant que moins de 50 contacts étiquetés sont disponibles, un score heuristique transparent est utilisé à la place.</a:t>
            </a:r>
            <a:endParaRPr lang="en-US" sz="1000" dirty="0"/>
          </a:p>
        </p:txBody>
      </p:sp>
      <p:sp>
        <p:nvSpPr>
          <p:cNvPr id="20" name="Text 18"/>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28.</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1828800" cy="822960"/>
          </a:xfrm>
          <a:prstGeom prst="rect">
            <a:avLst/>
          </a:prstGeom>
          <a:noFill/>
          <a:ln/>
        </p:spPr>
        <p:txBody>
          <a:bodyPr wrap="square" lIns="0" tIns="0" rIns="0" bIns="0" rtlCol="0" anchor="ctr"/>
          <a:lstStyle/>
          <a:p>
            <a:pPr indent="0" marL="0">
              <a:buNone/>
            </a:pPr>
            <a:r>
              <a:rPr lang="en-US" sz="3000" b="1" dirty="0">
                <a:solidFill>
                  <a:srgbClr val="A9B6E3"/>
                </a:solidFill>
                <a:latin typeface="Arial" pitchFamily="34" charset="0"/>
                <a:ea typeface="Arial" pitchFamily="34" charset="-122"/>
                <a:cs typeface="Arial" pitchFamily="34" charset="-120"/>
              </a:rPr>
              <a:t>08</a:t>
            </a:r>
            <a:endParaRPr lang="en-US" sz="3000" dirty="0"/>
          </a:p>
        </p:txBody>
      </p:sp>
      <p:sp>
        <p:nvSpPr>
          <p:cNvPr id="3" name="Text 1"/>
          <p:cNvSpPr/>
          <p:nvPr/>
        </p:nvSpPr>
        <p:spPr>
          <a:xfrm>
            <a:off x="822960" y="2103120"/>
            <a:ext cx="9601200" cy="146304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Conclusion &amp; perspectives</a:t>
            </a:r>
            <a:endParaRPr lang="en-US" sz="4200" dirty="0"/>
          </a:p>
        </p:txBody>
      </p:sp>
      <p:sp>
        <p:nvSpPr>
          <p:cNvPr id="4" name="Text 2"/>
          <p:cNvSpPr/>
          <p:nvPr/>
        </p:nvSpPr>
        <p:spPr>
          <a:xfrm>
            <a:off x="822960" y="3429000"/>
            <a:ext cx="8686800" cy="73152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Bilan du projet et pistes d’évolution</a:t>
            </a:r>
            <a:endParaRPr lang="en-US" sz="1600" dirty="0"/>
          </a:p>
        </p:txBody>
      </p:sp>
      <p:sp>
        <p:nvSpPr>
          <p:cNvPr id="5" name="Text 3"/>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29.</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457200"/>
            <a:ext cx="1051560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Conclusion</a:t>
            </a:r>
            <a:endParaRPr lang="en-US" sz="3000" dirty="0"/>
          </a:p>
        </p:txBody>
      </p:sp>
      <p:sp>
        <p:nvSpPr>
          <p:cNvPr id="3" name="Shape 1"/>
          <p:cNvSpPr/>
          <p:nvPr/>
        </p:nvSpPr>
        <p:spPr>
          <a:xfrm>
            <a:off x="822960" y="1554480"/>
            <a:ext cx="5112868" cy="2240280"/>
          </a:xfrm>
          <a:prstGeom prst="roundRect">
            <a:avLst>
              <a:gd name="adj" fmla="val 2449"/>
            </a:avLst>
          </a:prstGeom>
          <a:solidFill>
            <a:srgbClr val="F2F2F2"/>
          </a:solidFill>
          <a:ln/>
        </p:spPr>
      </p:sp>
      <p:sp>
        <p:nvSpPr>
          <p:cNvPr id="4" name="Text 2"/>
          <p:cNvSpPr/>
          <p:nvPr/>
        </p:nvSpPr>
        <p:spPr>
          <a:xfrm>
            <a:off x="987552" y="164592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a:t>
            </a:r>
            <a:endParaRPr lang="en-US" sz="1900" dirty="0"/>
          </a:p>
        </p:txBody>
      </p:sp>
      <p:sp>
        <p:nvSpPr>
          <p:cNvPr id="5" name="Text 3"/>
          <p:cNvSpPr/>
          <p:nvPr/>
        </p:nvSpPr>
        <p:spPr>
          <a:xfrm>
            <a:off x="987552" y="199339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Plateforme déployée et fonctionnelle</a:t>
            </a:r>
            <a:endParaRPr lang="en-US" sz="1250" dirty="0"/>
          </a:p>
        </p:txBody>
      </p:sp>
      <p:sp>
        <p:nvSpPr>
          <p:cNvPr id="6" name="Text 4"/>
          <p:cNvSpPr/>
          <p:nvPr/>
        </p:nvSpPr>
        <p:spPr>
          <a:xfrm>
            <a:off x="987552" y="230428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Un CRM complet couvrant les 8 rôles métier de 3LM Solutions, du premier appel à l’évaluation qualité.</a:t>
            </a:r>
            <a:endParaRPr lang="en-US" sz="1000" dirty="0"/>
          </a:p>
        </p:txBody>
      </p:sp>
      <p:sp>
        <p:nvSpPr>
          <p:cNvPr id="7" name="Shape 5"/>
          <p:cNvSpPr/>
          <p:nvPr/>
        </p:nvSpPr>
        <p:spPr>
          <a:xfrm>
            <a:off x="6255868" y="1554480"/>
            <a:ext cx="5112868" cy="2240280"/>
          </a:xfrm>
          <a:prstGeom prst="roundRect">
            <a:avLst>
              <a:gd name="adj" fmla="val 2449"/>
            </a:avLst>
          </a:prstGeom>
          <a:solidFill>
            <a:srgbClr val="F2F2F2"/>
          </a:solidFill>
          <a:ln/>
        </p:spPr>
      </p:sp>
      <p:sp>
        <p:nvSpPr>
          <p:cNvPr id="8" name="Text 6"/>
          <p:cNvSpPr/>
          <p:nvPr/>
        </p:nvSpPr>
        <p:spPr>
          <a:xfrm>
            <a:off x="6420460" y="164592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a:t>
            </a:r>
            <a:endParaRPr lang="en-US" sz="1900" dirty="0"/>
          </a:p>
        </p:txBody>
      </p:sp>
      <p:sp>
        <p:nvSpPr>
          <p:cNvPr id="9" name="Text 7"/>
          <p:cNvSpPr/>
          <p:nvPr/>
        </p:nvSpPr>
        <p:spPr>
          <a:xfrm>
            <a:off x="6420460" y="199339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Une démarche Scrum éprouvée</a:t>
            </a:r>
            <a:endParaRPr lang="en-US" sz="1250" dirty="0"/>
          </a:p>
        </p:txBody>
      </p:sp>
      <p:sp>
        <p:nvSpPr>
          <p:cNvPr id="10" name="Text 8"/>
          <p:cNvSpPr/>
          <p:nvPr/>
        </p:nvSpPr>
        <p:spPr>
          <a:xfrm>
            <a:off x="6420460" y="230428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6 sprints ont permis d’absorber des besoins apparus en cours de route (messagerie, module IA).</a:t>
            </a:r>
            <a:endParaRPr lang="en-US" sz="1000" dirty="0"/>
          </a:p>
        </p:txBody>
      </p:sp>
      <p:sp>
        <p:nvSpPr>
          <p:cNvPr id="11" name="Shape 9"/>
          <p:cNvSpPr/>
          <p:nvPr/>
        </p:nvSpPr>
        <p:spPr>
          <a:xfrm>
            <a:off x="822960" y="4114800"/>
            <a:ext cx="5112868" cy="2240280"/>
          </a:xfrm>
          <a:prstGeom prst="roundRect">
            <a:avLst>
              <a:gd name="adj" fmla="val 2449"/>
            </a:avLst>
          </a:prstGeom>
          <a:solidFill>
            <a:srgbClr val="F2F2F2"/>
          </a:solidFill>
          <a:ln/>
        </p:spPr>
      </p:sp>
      <p:sp>
        <p:nvSpPr>
          <p:cNvPr id="12" name="Text 10"/>
          <p:cNvSpPr/>
          <p:nvPr/>
        </p:nvSpPr>
        <p:spPr>
          <a:xfrm>
            <a:off x="987552" y="420624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a:t>
            </a:r>
            <a:endParaRPr lang="en-US" sz="1900" dirty="0"/>
          </a:p>
        </p:txBody>
      </p:sp>
      <p:sp>
        <p:nvSpPr>
          <p:cNvPr id="13" name="Text 11"/>
          <p:cNvSpPr/>
          <p:nvPr/>
        </p:nvSpPr>
        <p:spPr>
          <a:xfrm>
            <a:off x="987552" y="455371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Réponse aux besoins fixés</a:t>
            </a:r>
            <a:endParaRPr lang="en-US" sz="1250" dirty="0"/>
          </a:p>
        </p:txBody>
      </p:sp>
      <p:sp>
        <p:nvSpPr>
          <p:cNvPr id="14" name="Text 12"/>
          <p:cNvSpPr/>
          <p:nvPr/>
        </p:nvSpPr>
        <p:spPr>
          <a:xfrm>
            <a:off x="987552" y="486460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Les besoins fonctionnels et non fonctionnels définis en amont ont été couverts.</a:t>
            </a:r>
            <a:endParaRPr lang="en-US" sz="1000" dirty="0"/>
          </a:p>
        </p:txBody>
      </p:sp>
      <p:sp>
        <p:nvSpPr>
          <p:cNvPr id="15" name="Shape 13"/>
          <p:cNvSpPr/>
          <p:nvPr/>
        </p:nvSpPr>
        <p:spPr>
          <a:xfrm>
            <a:off x="6255868" y="4114800"/>
            <a:ext cx="5112868" cy="2240280"/>
          </a:xfrm>
          <a:prstGeom prst="roundRect">
            <a:avLst>
              <a:gd name="adj" fmla="val 2449"/>
            </a:avLst>
          </a:prstGeom>
          <a:solidFill>
            <a:srgbClr val="F2F2F2"/>
          </a:solidFill>
          <a:ln/>
        </p:spPr>
      </p:sp>
      <p:sp>
        <p:nvSpPr>
          <p:cNvPr id="16" name="Text 14"/>
          <p:cNvSpPr/>
          <p:nvPr/>
        </p:nvSpPr>
        <p:spPr>
          <a:xfrm>
            <a:off x="6420460" y="4206240"/>
            <a:ext cx="4783684" cy="365760"/>
          </a:xfrm>
          <a:prstGeom prst="rect">
            <a:avLst/>
          </a:prstGeom>
          <a:noFill/>
          <a:ln/>
        </p:spPr>
        <p:txBody>
          <a:bodyPr wrap="square" lIns="0" tIns="0" rIns="0" bIns="0" rtlCol="0" anchor="ctr"/>
          <a:lstStyle/>
          <a:p>
            <a:pPr indent="0" marL="0">
              <a:buNone/>
            </a:pPr>
            <a:r>
              <a:rPr lang="en-US" sz="1900" b="1" dirty="0">
                <a:solidFill>
                  <a:srgbClr val="30459E"/>
                </a:solidFill>
                <a:latin typeface="Arial" pitchFamily="34" charset="0"/>
                <a:ea typeface="Arial" pitchFamily="34" charset="-122"/>
                <a:cs typeface="Arial" pitchFamily="34" charset="-120"/>
              </a:rPr>
              <a:t>✓</a:t>
            </a:r>
            <a:endParaRPr lang="en-US" sz="1900" dirty="0"/>
          </a:p>
        </p:txBody>
      </p:sp>
      <p:sp>
        <p:nvSpPr>
          <p:cNvPr id="17" name="Text 15"/>
          <p:cNvSpPr/>
          <p:nvPr/>
        </p:nvSpPr>
        <p:spPr>
          <a:xfrm>
            <a:off x="6420460" y="4553712"/>
            <a:ext cx="4783684" cy="320040"/>
          </a:xfrm>
          <a:prstGeom prst="rect">
            <a:avLst/>
          </a:prstGeom>
          <a:noFill/>
          <a:ln/>
        </p:spPr>
        <p:txBody>
          <a:bodyPr wrap="square" lIns="0" tIns="0" rIns="0" bIns="0" rtlCol="0" anchor="ctr"/>
          <a:lstStyle/>
          <a:p>
            <a:pPr indent="0" marL="0">
              <a:buNone/>
            </a:pPr>
            <a:r>
              <a:rPr lang="en-US" sz="1250" b="1" dirty="0">
                <a:solidFill>
                  <a:srgbClr val="111111"/>
                </a:solidFill>
                <a:latin typeface="Arial" pitchFamily="34" charset="0"/>
                <a:ea typeface="Arial" pitchFamily="34" charset="-122"/>
                <a:cs typeface="Arial" pitchFamily="34" charset="-120"/>
              </a:rPr>
              <a:t>Un socle prêt à évoluer</a:t>
            </a:r>
            <a:endParaRPr lang="en-US" sz="1250" dirty="0"/>
          </a:p>
        </p:txBody>
      </p:sp>
      <p:sp>
        <p:nvSpPr>
          <p:cNvPr id="18" name="Text 16"/>
          <p:cNvSpPr/>
          <p:nvPr/>
        </p:nvSpPr>
        <p:spPr>
          <a:xfrm>
            <a:off x="6420460" y="4864608"/>
            <a:ext cx="4783684" cy="1371600"/>
          </a:xfrm>
          <a:prstGeom prst="rect">
            <a:avLst/>
          </a:prstGeom>
          <a:noFill/>
          <a:ln/>
        </p:spPr>
        <p:txBody>
          <a:bodyPr wrap="square" lIns="0" tIns="0" rIns="0" bIns="0" rtlCol="0" anchor="ctr"/>
          <a:lstStyle/>
          <a:p>
            <a:pPr indent="0" marL="0">
              <a:lnSpc>
                <a:spcPts val="1250"/>
              </a:lnSpc>
              <a:buNone/>
            </a:pPr>
            <a:r>
              <a:rPr lang="en-US" sz="1000" dirty="0">
                <a:solidFill>
                  <a:srgbClr val="333333"/>
                </a:solidFill>
                <a:latin typeface="Arial" pitchFamily="34" charset="0"/>
                <a:ea typeface="Arial" pitchFamily="34" charset="-122"/>
                <a:cs typeface="Arial" pitchFamily="34" charset="-120"/>
              </a:rPr>
              <a:t>Une architecture en couches qui facilite l’ajout de nouveaux modules ou rôles.</a:t>
            </a:r>
            <a:endParaRPr lang="en-US" sz="1000" dirty="0"/>
          </a:p>
        </p:txBody>
      </p:sp>
      <p:sp>
        <p:nvSpPr>
          <p:cNvPr id="19" name="Text 17"/>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30.</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822960" y="457200"/>
            <a:ext cx="1828800"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8.2</a:t>
            </a:r>
            <a:endParaRPr lang="en-US" sz="1300" dirty="0"/>
          </a:p>
        </p:txBody>
      </p:sp>
      <p:sp>
        <p:nvSpPr>
          <p:cNvPr id="3" name="Text 1"/>
          <p:cNvSpPr/>
          <p:nvPr/>
        </p:nvSpPr>
        <p:spPr>
          <a:xfrm>
            <a:off x="822960" y="777240"/>
            <a:ext cx="5760720" cy="1188720"/>
          </a:xfrm>
          <a:prstGeom prst="rect">
            <a:avLst/>
          </a:prstGeom>
          <a:noFill/>
          <a:ln/>
        </p:spPr>
        <p:txBody>
          <a:bodyPr wrap="square" lIns="0" tIns="0" rIns="0" bIns="0" rtlCol="0" anchor="ctr"/>
          <a:lstStyle/>
          <a:p>
            <a:pPr indent="0" marL="0">
              <a:lnSpc>
                <a:spcPts val="3100"/>
              </a:lnSpc>
              <a:buNone/>
            </a:pPr>
            <a:r>
              <a:rPr lang="en-US" sz="2800" b="1" dirty="0">
                <a:solidFill>
                  <a:srgbClr val="111111"/>
                </a:solidFill>
                <a:latin typeface="Arial" pitchFamily="34" charset="0"/>
                <a:ea typeface="Arial" pitchFamily="34" charset="-122"/>
                <a:cs typeface="Arial" pitchFamily="34" charset="-120"/>
              </a:rPr>
              <a:t>Perspectives</a:t>
            </a:r>
            <a:endParaRPr lang="en-US" sz="2800" dirty="0"/>
          </a:p>
        </p:txBody>
      </p:sp>
      <p:sp>
        <p:nvSpPr>
          <p:cNvPr id="4" name="Shape 2"/>
          <p:cNvSpPr/>
          <p:nvPr/>
        </p:nvSpPr>
        <p:spPr>
          <a:xfrm>
            <a:off x="6949440" y="1005840"/>
            <a:ext cx="4602175" cy="2468880"/>
          </a:xfrm>
          <a:prstGeom prst="roundRect">
            <a:avLst>
              <a:gd name="adj" fmla="val 2222"/>
            </a:avLst>
          </a:prstGeom>
          <a:solidFill>
            <a:srgbClr val="FFFFFF"/>
          </a:solidFill>
          <a:ln/>
        </p:spPr>
      </p:sp>
      <p:sp>
        <p:nvSpPr>
          <p:cNvPr id="5" name="Text 3"/>
          <p:cNvSpPr/>
          <p:nvPr/>
        </p:nvSpPr>
        <p:spPr>
          <a:xfrm>
            <a:off x="7178040" y="1170432"/>
            <a:ext cx="4144975"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Couplage téléphonique (CTI)</a:t>
            </a:r>
            <a:endParaRPr lang="en-US" sz="1300" dirty="0"/>
          </a:p>
        </p:txBody>
      </p:sp>
      <p:sp>
        <p:nvSpPr>
          <p:cNvPr id="6" name="Text 4"/>
          <p:cNvSpPr/>
          <p:nvPr/>
        </p:nvSpPr>
        <p:spPr>
          <a:xfrm>
            <a:off x="7178040" y="1572768"/>
            <a:ext cx="4144975" cy="1783080"/>
          </a:xfrm>
          <a:prstGeom prst="rect">
            <a:avLst/>
          </a:prstGeom>
          <a:noFill/>
          <a:ln/>
        </p:spPr>
        <p:txBody>
          <a:bodyPr wrap="square" lIns="0" tIns="0" rIns="0" bIns="0" rtlCol="0" anchor="ctr"/>
          <a:lstStyle/>
          <a:p>
            <a:pPr indent="0" marL="0">
              <a:lnSpc>
                <a:spcPts val="1450"/>
              </a:lnSpc>
              <a:buNone/>
            </a:pPr>
            <a:r>
              <a:rPr lang="en-US" sz="1100" dirty="0">
                <a:solidFill>
                  <a:srgbClr val="1A1A1A"/>
                </a:solidFill>
                <a:latin typeface="Arial" pitchFamily="34" charset="0"/>
                <a:ea typeface="Arial" pitchFamily="34" charset="-122"/>
                <a:cs typeface="Arial" pitchFamily="34" charset="-120"/>
              </a:rPr>
              <a:t>Intégration d’une API RingOver ou VoIP/SIP pour déclencher les appels directement depuis la fiche contact.</a:t>
            </a:r>
            <a:endParaRPr lang="en-US" sz="1100" dirty="0"/>
          </a:p>
        </p:txBody>
      </p:sp>
      <p:sp>
        <p:nvSpPr>
          <p:cNvPr id="7" name="Shape 5"/>
          <p:cNvSpPr/>
          <p:nvPr/>
        </p:nvSpPr>
        <p:spPr>
          <a:xfrm>
            <a:off x="6949440" y="3749040"/>
            <a:ext cx="4602175" cy="2468880"/>
          </a:xfrm>
          <a:prstGeom prst="roundRect">
            <a:avLst>
              <a:gd name="adj" fmla="val 2222"/>
            </a:avLst>
          </a:prstGeom>
          <a:solidFill>
            <a:srgbClr val="FFFFFF"/>
          </a:solidFill>
          <a:ln/>
        </p:spPr>
      </p:sp>
      <p:sp>
        <p:nvSpPr>
          <p:cNvPr id="8" name="Text 6"/>
          <p:cNvSpPr/>
          <p:nvPr/>
        </p:nvSpPr>
        <p:spPr>
          <a:xfrm>
            <a:off x="7178040" y="3913632"/>
            <a:ext cx="4144975" cy="365760"/>
          </a:xfrm>
          <a:prstGeom prst="rect">
            <a:avLst/>
          </a:prstGeom>
          <a:noFill/>
          <a:ln/>
        </p:spPr>
        <p:txBody>
          <a:bodyPr wrap="square" lIns="0" tIns="0" rIns="0" bIns="0" rtlCol="0" anchor="ctr"/>
          <a:lstStyle/>
          <a:p>
            <a:pPr indent="0" marL="0">
              <a:buNone/>
            </a:pPr>
            <a:r>
              <a:rPr lang="en-US" sz="1300" b="1" dirty="0">
                <a:solidFill>
                  <a:srgbClr val="30459E"/>
                </a:solidFill>
                <a:latin typeface="Arial" pitchFamily="34" charset="0"/>
                <a:ea typeface="Arial" pitchFamily="34" charset="-122"/>
                <a:cs typeface="Arial" pitchFamily="34" charset="-120"/>
              </a:rPr>
              <a:t>Application mobile</a:t>
            </a:r>
            <a:endParaRPr lang="en-US" sz="1300" dirty="0"/>
          </a:p>
        </p:txBody>
      </p:sp>
      <p:sp>
        <p:nvSpPr>
          <p:cNvPr id="9" name="Text 7"/>
          <p:cNvSpPr/>
          <p:nvPr/>
        </p:nvSpPr>
        <p:spPr>
          <a:xfrm>
            <a:off x="7178040" y="4315968"/>
            <a:ext cx="4144975" cy="1783080"/>
          </a:xfrm>
          <a:prstGeom prst="rect">
            <a:avLst/>
          </a:prstGeom>
          <a:noFill/>
          <a:ln/>
        </p:spPr>
        <p:txBody>
          <a:bodyPr wrap="square" lIns="0" tIns="0" rIns="0" bIns="0" rtlCol="0" anchor="ctr"/>
          <a:lstStyle/>
          <a:p>
            <a:pPr indent="0" marL="0">
              <a:lnSpc>
                <a:spcPts val="1450"/>
              </a:lnSpc>
              <a:buNone/>
            </a:pPr>
            <a:r>
              <a:rPr lang="en-US" sz="1100" dirty="0">
                <a:solidFill>
                  <a:srgbClr val="1A1A1A"/>
                </a:solidFill>
                <a:latin typeface="Arial" pitchFamily="34" charset="0"/>
                <a:ea typeface="Arial" pitchFamily="34" charset="-122"/>
                <a:cs typeface="Arial" pitchFamily="34" charset="-120"/>
              </a:rPr>
              <a:t>Mise à jour du statut d’un rendez-vous directement depuis le terrain par les commerciaux.</a:t>
            </a:r>
            <a:endParaRPr lang="en-US" sz="1100" dirty="0"/>
          </a:p>
        </p:txBody>
      </p:sp>
      <p:sp>
        <p:nvSpPr>
          <p:cNvPr id="10" name="Text 8"/>
          <p:cNvSpPr/>
          <p:nvPr/>
        </p:nvSpPr>
        <p:spPr>
          <a:xfrm>
            <a:off x="457200" y="6217920"/>
            <a:ext cx="914400" cy="365760"/>
          </a:xfrm>
          <a:prstGeom prst="rect">
            <a:avLst/>
          </a:prstGeom>
          <a:noFill/>
          <a:ln/>
        </p:spPr>
        <p:txBody>
          <a:bodyPr wrap="square" lIns="0" tIns="0" rIns="0" bIns="0" rtlCol="0" anchor="ctr"/>
          <a:lstStyle/>
          <a:p>
            <a:pPr algn="l" indent="0" marL="0">
              <a:buNone/>
            </a:pPr>
            <a:r>
              <a:rPr lang="en-US" sz="1600" b="1" dirty="0">
                <a:solidFill>
                  <a:srgbClr val="30459E"/>
                </a:solidFill>
                <a:latin typeface="Arial" pitchFamily="34" charset="0"/>
                <a:ea typeface="Arial" pitchFamily="34" charset="-122"/>
                <a:cs typeface="Arial" pitchFamily="34" charset="-120"/>
              </a:rPr>
              <a:t>31.</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pfe_canva/assets/logo3lm.jpg">    </p:cNvPr>
          <p:cNvPicPr>
            <a:picLocks noChangeAspect="1"/>
          </p:cNvPicPr>
          <p:nvPr/>
        </p:nvPicPr>
        <p:blipFill>
          <a:blip r:embed="rId2"/>
          <a:stretch>
            <a:fillRect/>
          </a:stretch>
        </p:blipFill>
        <p:spPr>
          <a:xfrm>
            <a:off x="5592928" y="1371600"/>
            <a:ext cx="1005840" cy="1005840"/>
          </a:xfrm>
          <a:prstGeom prst="rect">
            <a:avLst/>
          </a:prstGeom>
        </p:spPr>
      </p:pic>
      <p:sp>
        <p:nvSpPr>
          <p:cNvPr id="3" name="Shape 0"/>
          <p:cNvSpPr/>
          <p:nvPr/>
        </p:nvSpPr>
        <p:spPr>
          <a:xfrm>
            <a:off x="2986888" y="3246120"/>
            <a:ext cx="0" cy="1188720"/>
          </a:xfrm>
          <a:prstGeom prst="line">
            <a:avLst/>
          </a:prstGeom>
          <a:noFill/>
          <a:ln w="25400">
            <a:solidFill>
              <a:srgbClr val="FFFFFF"/>
            </a:solidFill>
            <a:prstDash val="solid"/>
          </a:ln>
        </p:spPr>
      </p:sp>
      <p:sp>
        <p:nvSpPr>
          <p:cNvPr id="4" name="Text 1"/>
          <p:cNvSpPr/>
          <p:nvPr/>
        </p:nvSpPr>
        <p:spPr>
          <a:xfrm>
            <a:off x="3261208" y="2880360"/>
            <a:ext cx="566928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Merci pour votre attention</a:t>
            </a:r>
            <a:endParaRPr lang="en-US" sz="3400" dirty="0"/>
          </a:p>
        </p:txBody>
      </p:sp>
      <p:sp>
        <p:nvSpPr>
          <p:cNvPr id="5" name="Text 2"/>
          <p:cNvSpPr/>
          <p:nvPr/>
        </p:nvSpPr>
        <p:spPr>
          <a:xfrm>
            <a:off x="3261208" y="3886200"/>
            <a:ext cx="5669280" cy="457200"/>
          </a:xfrm>
          <a:prstGeom prst="rect">
            <a:avLst/>
          </a:prstGeom>
          <a:noFill/>
          <a:ln/>
        </p:spPr>
        <p:txBody>
          <a:bodyPr wrap="square" lIns="0" tIns="0" rIns="0" bIns="0" rtlCol="0" anchor="ctr"/>
          <a:lstStyle/>
          <a:p>
            <a:pPr indent="0" marL="0">
              <a:buNone/>
            </a:pPr>
            <a:r>
              <a:rPr lang="en-US" sz="1600" dirty="0">
                <a:solidFill>
                  <a:srgbClr val="D9DEF5"/>
                </a:solidFill>
                <a:latin typeface="Arial" pitchFamily="34" charset="0"/>
                <a:ea typeface="Arial" pitchFamily="34" charset="-122"/>
                <a:cs typeface="Arial"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2026-09-23T08:47:44Z</dcterms:created>
  <dcterms:modified xsi:type="dcterms:W3CDTF">2026-09-23T08:47:44Z</dcterms:modified>
</cp:coreProperties>
</file>