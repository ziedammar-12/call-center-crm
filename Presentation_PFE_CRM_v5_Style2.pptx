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fe_v5/assets/dotgri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-365760" y="502920"/>
            <a:ext cx="228600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D’ÉTUDES</a:t>
            </a:r>
            <a:endParaRPr lang="en-US" sz="1300" dirty="0"/>
          </a:p>
        </p:txBody>
      </p:sp>
      <p:pic>
        <p:nvPicPr>
          <p:cNvPr id="4" name="Image 1" descr="/tmp/pfe_v5/assets/logo3l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22960" y="1371600"/>
            <a:ext cx="10515600" cy="2148840"/>
          </a:xfrm>
          <a:prstGeom prst="roundRect">
            <a:avLst>
              <a:gd name="adj" fmla="val 5106"/>
            </a:avLst>
          </a:prstGeom>
          <a:solidFill>
            <a:srgbClr val="FAFAFB"/>
          </a:solidFill>
          <a:ln/>
          <a:effectLst>
            <a:outerShdw sx="100000" sy="100000" kx="0" ky="0" algn="bl" rotWithShape="0" blurRad="228600" dist="76200" dir="5400000">
              <a:srgbClr val="17275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1143000" y="1554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 d’une Plateforme CRM de Gestion de Centre d’Appels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1143000" y="3977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Zied Ammar
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Anis Haj Youssef
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entreprise :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Oumaima Jlejla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309360" y="39776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d’accueil :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3LM Solutions
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 :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Logiciel</a:t>
            </a:r>
            <a:endParaRPr lang="en-US" sz="1300" dirty="0"/>
          </a:p>
        </p:txBody>
      </p:sp>
      <p:pic>
        <p:nvPicPr>
          <p:cNvPr id="9" name="Image 2" descr="/tmp/pfe_v5/assets/cover_grad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0760"/>
            <a:ext cx="12191695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0" y="623620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1691274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212482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préliminaire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59359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1234440" y="3703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 proposée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64515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006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0" dirty="0"/>
          </a:p>
        </p:txBody>
      </p:sp>
      <p:sp>
        <p:nvSpPr>
          <p:cNvPr id="20" name="Text 18"/>
          <p:cNvSpPr/>
          <p:nvPr/>
        </p:nvSpPr>
        <p:spPr>
          <a:xfrm>
            <a:off x="1234440" y="47548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16459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7040880" y="16002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spécifiques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254203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6974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7040880" y="26517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59359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7490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70" dirty="0"/>
          </a:p>
        </p:txBody>
      </p:sp>
      <p:sp>
        <p:nvSpPr>
          <p:cNvPr id="31" name="Text 29"/>
          <p:cNvSpPr/>
          <p:nvPr/>
        </p:nvSpPr>
        <p:spPr>
          <a:xfrm>
            <a:off x="7040880" y="3703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4645152"/>
            <a:ext cx="52578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8006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70" dirty="0"/>
          </a:p>
        </p:txBody>
      </p:sp>
      <p:sp>
        <p:nvSpPr>
          <p:cNvPr id="35" name="Text 33"/>
          <p:cNvSpPr/>
          <p:nvPr/>
        </p:nvSpPr>
        <p:spPr>
          <a:xfrm>
            <a:off x="7040880" y="47548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  <p:pic>
        <p:nvPicPr>
          <p:cNvPr id="3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 et présentation de l’organisme d’accueil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Introduction générale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656137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77345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537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présente le travail réalisé dans le cadre du Projet de Fin d’Études, conclusion du cursus d’ingénieur en Génie Logiciel, effectué au sein de l’entreprise 3LM Solutions.
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centres d’appels sont au cœur de l’activité de télémarketing : leur performance dépend directement de la qualité des outils utilisés pour gérer les contacts, planifier les rendez-vous et suivre la qualité des appels.
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3LM Solutions utilisait jusque-là des outils dispersés et peu adaptés aux spécificités de son métier, ce qui a motivé la conception d’une plateforme CRM sur mesure — objet de ce projet.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417320"/>
            <a:ext cx="4297680" cy="4297680"/>
          </a:xfrm>
          <a:prstGeom prst="roundRect">
            <a:avLst>
              <a:gd name="adj" fmla="val 1915"/>
            </a:avLst>
          </a:prstGeom>
          <a:solidFill>
            <a:srgbClr val="17275C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25512" y="15453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 document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25512" y="1856232"/>
            <a:ext cx="3968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Présenter la démarche complète : de l’étude du besoin jusqu’à la mise en production d’une plateforme CRM fonctionnelle.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Justifier les choix méthodologiques, techniques et architecturaux effectués tout au long du projet.</a:t>
            </a:r>
            <a:endParaRPr lang="en-US" sz="1200" dirty="0"/>
          </a:p>
        </p:txBody>
      </p:sp>
      <p:pic>
        <p:nvPicPr>
          <p:cNvPr id="10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Organisme d’accueil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307933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829141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500" dirty="0"/>
          </a:p>
        </p:txBody>
      </p:sp>
      <p:pic>
        <p:nvPicPr>
          <p:cNvPr id="6" name="Image 0" descr="/tmp/pfe_v5/assets/logo3l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371600"/>
            <a:ext cx="123444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FC8CE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7830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création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2377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2025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160020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0488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56C4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17830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métier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45352" y="2377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Spécialisée dans les solutions IT et services numériques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0A93A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3840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d’activité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4672" y="4434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Télémarketing · Prise de RDV · Confirmation RDV · Suivi qualité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65760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90488" y="38587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275C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3840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45352" y="4434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Ariana / Bizerte, Tunisie</a:t>
            </a:r>
            <a:endParaRPr lang="en-US" sz="1150" dirty="0"/>
          </a:p>
        </p:txBody>
      </p:sp>
      <p:pic>
        <p:nvPicPr>
          <p:cNvPr id="23" name="Image 1" descr="/tmp/pfe_v5/assets/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préliminaire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constat de terrain à l’analyse des solutions existantes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préliminaire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Contexte &amp; constat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133832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5040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mesure que 3LM Solutions développe son portefeuille de clients, le volume d’appels, de contacts et de rendez-vous à gérer augmente rapidement. Les équipes (agents, confirmatrices, service qualité, service technique) travaillent aujourd’hui avec des outils dispersés (tableurs, échanges manuels) mal adaptés à ce volume.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contacts dispersé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unifiée du statut d’un contact ni de son historique d’appels.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51460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Agendas non centralisés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886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rendez-vous EBI, client et commerciaux ne sont pas synchronisés entre équipes.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251460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33832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peu mesurée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38862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d’outil dédié pour évaluer les appels et objectiver la performance des agents.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constat conduit naturellement à s’interroger : les solutions CRM du marché répondent-elles à ces besoins précis ?</a:t>
            </a:r>
            <a:endParaRPr lang="en-US" sz="1200" dirty="0"/>
          </a:p>
        </p:txBody>
      </p:sp>
      <p:pic>
        <p:nvPicPr>
          <p:cNvPr id="23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préliminaire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Étude et critique de l’existant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5011644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532852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819656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1FC8C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généraliste, coût prohibitif, non adapté aux statuts métier d’un centre d’appels.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83096" y="1819656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1A56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complexe, manque de fonctionnalités spécifiques call center tunisien.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968496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F0A9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CRM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" y="4389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gestion de pointage, ni d’évaluation qualité, ni d’agenda multi-rôles.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3096" y="3968496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17275C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20840" y="4389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lourde, licence coûteuse, peu adapté aux PME.</a:t>
            </a:r>
            <a:endParaRPr lang="en-US" sz="1150" dirty="0"/>
          </a:p>
        </p:txBody>
      </p:sp>
      <p:pic>
        <p:nvPicPr>
          <p:cNvPr id="22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préliminaire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 proposée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question posée à la réponse apportée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 proposée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2263323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784531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9784080" cy="2331720"/>
          </a:xfrm>
          <a:prstGeom prst="roundRect">
            <a:avLst>
              <a:gd name="adj" fmla="val 3529"/>
            </a:avLst>
          </a:prstGeom>
          <a:solidFill>
            <a:srgbClr val="17275C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965960"/>
            <a:ext cx="88696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plateforme CRM intégrée et sécurisée qui centralise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contacts, des agendas multi-rôles et des évaluations qualité</a:t>
            </a:r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ainsi que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traçabilité des actions et la collaboration en temps réel</a:t>
            </a:r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les différents services de 3LM Solutions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43434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question découle directement du constat établi en étude préliminaire : dispersion des outils, absence de traçabilité, suivi qualité inexistant.</a:t>
            </a:r>
            <a:endParaRPr lang="en-US" sz="1300" dirty="0"/>
          </a:p>
        </p:txBody>
      </p:sp>
      <p:pic>
        <p:nvPicPr>
          <p:cNvPr id="9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Solution proposée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2959730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480938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d’une plateforme CRM sur mesure couvrant l’ensemble du cycle de vie d’un contact : de la première qualification téléphonique jusqu’à la confirmation du rendez-vous et l’évaluation de la qualité de l’appel.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4772" y="2587752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9" name="Text 7"/>
          <p:cNvSpPr/>
          <p:nvPr/>
        </p:nvSpPr>
        <p:spPr>
          <a:xfrm>
            <a:off x="1604772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36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 les contacts et prend les rendez-vous.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23317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0268" y="2587752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4" name="Text 12"/>
          <p:cNvSpPr/>
          <p:nvPr/>
        </p:nvSpPr>
        <p:spPr>
          <a:xfrm>
            <a:off x="4430268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36" dirty="0"/>
          </a:p>
        </p:txBody>
      </p:sp>
      <p:sp>
        <p:nvSpPr>
          <p:cNvPr id="15" name="Text 13"/>
          <p:cNvSpPr/>
          <p:nvPr/>
        </p:nvSpPr>
        <p:spPr>
          <a:xfrm>
            <a:off x="3511296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Confirmatrice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57016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les RDV via les agendas EBI / Client / Refus.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23317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5764" y="2587752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55764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36" dirty="0"/>
          </a:p>
        </p:txBody>
      </p:sp>
      <p:sp>
        <p:nvSpPr>
          <p:cNvPr id="20" name="Text 18"/>
          <p:cNvSpPr/>
          <p:nvPr/>
        </p:nvSpPr>
        <p:spPr>
          <a:xfrm>
            <a:off x="6336792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82512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le suivi terrain des RDV confirmés.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25128" y="23317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81260" y="2587752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81260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36" dirty="0"/>
          </a:p>
        </p:txBody>
      </p:sp>
      <p:sp>
        <p:nvSpPr>
          <p:cNvPr id="25" name="Text 23"/>
          <p:cNvSpPr/>
          <p:nvPr/>
        </p:nvSpPr>
        <p:spPr>
          <a:xfrm>
            <a:off x="9162288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08008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les appels et objective la performance.</a:t>
            </a:r>
            <a:endParaRPr lang="en-US" sz="1050" dirty="0"/>
          </a:p>
        </p:txBody>
      </p:sp>
      <p:pic>
        <p:nvPicPr>
          <p:cNvPr id="2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Scrum en 6 sprints de 4 semaines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Méthode Scrum — 6 sprints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886200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407408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itératif en 6 sprints (Sprint 0 à Sprint 5) de 4 semaines chacun, avec des revues régulières permettant d’absorber les besoins apparus en cours de projet (messagerie SignalR, module d’analyse IA).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FC8C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analyse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l’existant, recueil des besoins, spécifications, choix de la stack, mise en place Git.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391156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9172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A56C4"/>
          </a:solidFill>
          <a:ln/>
        </p:spPr>
      </p:sp>
      <p:sp>
        <p:nvSpPr>
          <p:cNvPr id="14" name="Text 12"/>
          <p:cNvSpPr/>
          <p:nvPr/>
        </p:nvSpPr>
        <p:spPr>
          <a:xfrm>
            <a:off x="2519172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0028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0028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et rôles/permissions, entités de base (Utilisateur, Contact, RendezVous), interfaces Admin.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279392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0A93A"/>
          </a:solidFill>
          <a:ln/>
        </p:spPr>
      </p:sp>
      <p:sp>
        <p:nvSpPr>
          <p:cNvPr id="19" name="Text 17"/>
          <p:cNvSpPr/>
          <p:nvPr/>
        </p:nvSpPr>
        <p:spPr>
          <a:xfrm>
            <a:off x="4407408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98264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métier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98264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contact, appel en direct, agendas multi-rôles, workflow agent → confirmatrice.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167628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95644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7275C"/>
          </a:solidFill>
          <a:ln/>
        </p:spPr>
      </p:sp>
      <p:sp>
        <p:nvSpPr>
          <p:cNvPr id="24" name="Text 22"/>
          <p:cNvSpPr/>
          <p:nvPr/>
        </p:nvSpPr>
        <p:spPr>
          <a:xfrm>
            <a:off x="6295644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6500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transverses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86500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multi-rôles, évaluation qualité, gestion fichiers, import leads, salaires.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055864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FC8CE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74736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collaboration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74736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SignalR, microservice IA Python (scoring, prévision, anomalies).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944100" y="2011680"/>
            <a:ext cx="1764792" cy="3794760"/>
          </a:xfrm>
          <a:prstGeom prst="roundRect">
            <a:avLst>
              <a:gd name="adj" fmla="val 46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72116" y="215798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A56C4"/>
          </a:solidFill>
          <a:ln/>
        </p:spPr>
      </p:sp>
      <p:sp>
        <p:nvSpPr>
          <p:cNvPr id="34" name="Text 32"/>
          <p:cNvSpPr/>
          <p:nvPr/>
        </p:nvSpPr>
        <p:spPr>
          <a:xfrm>
            <a:off x="10072116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62972" y="260604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&amp; recette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62972" y="3310128"/>
            <a:ext cx="1527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Corrections, tests fonctionnels, données de démo, rapport, soutenance.</a:t>
            </a:r>
            <a:endParaRPr lang="en-US" sz="830" dirty="0"/>
          </a:p>
        </p:txBody>
      </p:sp>
      <p:pic>
        <p:nvPicPr>
          <p:cNvPr id="3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spécifiques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 et non fonctionnels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spécifiques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Besoins fonctionnels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357677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878885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96" dirty="0"/>
          </a:p>
        </p:txBody>
      </p:sp>
      <p:sp>
        <p:nvSpPr>
          <p:cNvPr id="9" name="Text 7"/>
          <p:cNvSpPr/>
          <p:nvPr/>
        </p:nvSpPr>
        <p:spPr>
          <a:xfrm>
            <a:off x="1261872" y="171907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&amp; qualification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4231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contact complète, statuts EBI / NRP / HC / Refus, historique d’appels.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7373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96" dirty="0"/>
          </a:p>
        </p:txBody>
      </p:sp>
      <p:sp>
        <p:nvSpPr>
          <p:cNvPr id="14" name="Text 12"/>
          <p:cNvSpPr/>
          <p:nvPr/>
        </p:nvSpPr>
        <p:spPr>
          <a:xfrm>
            <a:off x="5056632" y="171907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44568" y="24231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JWT, gestion fine des rôles et permissions par module.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373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96" dirty="0"/>
          </a:p>
        </p:txBody>
      </p:sp>
      <p:sp>
        <p:nvSpPr>
          <p:cNvPr id="19" name="Text 17"/>
          <p:cNvSpPr/>
          <p:nvPr/>
        </p:nvSpPr>
        <p:spPr>
          <a:xfrm>
            <a:off x="8851392" y="171907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Agendas multi-rôles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9328" y="24231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EBI, Client 1, Client 2, Refus et Commercial, synchronisés entre services.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49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96" dirty="0"/>
          </a:p>
        </p:txBody>
      </p:sp>
      <p:sp>
        <p:nvSpPr>
          <p:cNvPr id="24" name="Text 22"/>
          <p:cNvSpPr/>
          <p:nvPr/>
        </p:nvSpPr>
        <p:spPr>
          <a:xfrm>
            <a:off x="1261872" y="373075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qualité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9808" y="443484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d’appel, scoring, historique consultable par agent.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343400" y="35661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3749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96" dirty="0"/>
          </a:p>
        </p:txBody>
      </p:sp>
      <p:sp>
        <p:nvSpPr>
          <p:cNvPr id="29" name="Text 27"/>
          <p:cNvSpPr/>
          <p:nvPr/>
        </p:nvSpPr>
        <p:spPr>
          <a:xfrm>
            <a:off x="5056632" y="373075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temps réel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44568" y="443484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d’équipe via SignalR, canaux dédiés par service (Agents, Qualité, Technique…).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138160" y="35661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3749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96" dirty="0"/>
          </a:p>
        </p:txBody>
      </p:sp>
      <p:sp>
        <p:nvSpPr>
          <p:cNvPr id="34" name="Text 32"/>
          <p:cNvSpPr/>
          <p:nvPr/>
        </p:nvSpPr>
        <p:spPr>
          <a:xfrm>
            <a:off x="8851392" y="373075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&amp; Salaire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39328" y="443484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 leads, analyse de transcription d’appel, calcul automatisé du salaire.</a:t>
            </a:r>
            <a:endParaRPr lang="en-US" sz="970" dirty="0"/>
          </a:p>
        </p:txBody>
      </p:sp>
      <p:pic>
        <p:nvPicPr>
          <p:cNvPr id="3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spécifiques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Besoins non fonctionnels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730752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251960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exigences jugées critiques pour un CRM de centre d’appels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38728" cy="4206240"/>
          </a:xfrm>
          <a:prstGeom prst="roundRect">
            <a:avLst>
              <a:gd name="adj" fmla="val 232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810512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1FC8CE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10512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31729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fiches contacts contiennent des données personnelles clients.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assuré 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+ hachage BCrypt des mots de passe, contrôle d’accès par rôle (RBAC) sur chaque endpoint, communication HTTPS.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3538728" cy="4206240"/>
          </a:xfrm>
          <a:prstGeom prst="roundRect">
            <a:avLst>
              <a:gd name="adj" fmla="val 232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7992" y="1810512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1A56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810512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6280" y="23042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1729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centre d’appels dépend d’un accès continu au CRM pendant les heures d’ouverture.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assuré 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88620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(API .NET, service IA Python, base de données), reconnexion automatique du chat, repli heuristique si l’IA est indisponible.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1645920"/>
            <a:ext cx="3538728" cy="4206240"/>
          </a:xfrm>
          <a:prstGeom prst="roundRect">
            <a:avLst>
              <a:gd name="adj" fmla="val 232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2752" y="1810512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F0A93A"/>
          </a:solidFill>
          <a:ln/>
        </p:spPr>
      </p:sp>
      <p:sp>
        <p:nvSpPr>
          <p:cNvPr id="23" name="Text 21"/>
          <p:cNvSpPr/>
          <p:nvPr/>
        </p:nvSpPr>
        <p:spPr>
          <a:xfrm>
            <a:off x="8302752" y="1810512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23042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2560320"/>
            <a:ext cx="31729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(appel, RDV, évaluation) doit pouvoir être auditée a posteriori.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8321040" y="361188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assuré 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388620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systématique des appels et rendez-vous, conservation du statut agent par contact, historique des évaluations et messages d’équipe.</a:t>
            </a:r>
            <a:endParaRPr lang="en-US" sz="950" dirty="0"/>
          </a:p>
        </p:txBody>
      </p:sp>
      <p:pic>
        <p:nvPicPr>
          <p:cNvPr id="28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spécifiques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cas d’utilisation et architecture du système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Identification des acteurs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4041648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562856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7335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713232" y="2130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496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globale : utilisateurs, permissions, paramétrage plateforme.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74136" y="15087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67335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3538728" y="2130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38728" y="2496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opérationnelle : utilisateurs, contacts, imports, sans permissions système.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99632" y="15087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67335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6364224" y="2130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4224" y="2496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les appels, qualifie les contacts, prend les rendez-vous.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25128" y="15087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167335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9189720" y="2130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Confirmatrice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89720" y="2496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les RDV via les agendas EBI / Client 1 / Client 2 / Refus.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2219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0" dirty="0"/>
          </a:p>
        </p:txBody>
      </p:sp>
      <p:sp>
        <p:nvSpPr>
          <p:cNvPr id="29" name="Text 27"/>
          <p:cNvSpPr/>
          <p:nvPr/>
        </p:nvSpPr>
        <p:spPr>
          <a:xfrm>
            <a:off x="713232" y="4279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Confirmatrice Client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" y="464515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finale côté client et attribution aux commerciaux.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74136" y="3657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8728" y="382219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0" dirty="0"/>
          </a:p>
        </p:txBody>
      </p:sp>
      <p:sp>
        <p:nvSpPr>
          <p:cNvPr id="34" name="Text 32"/>
          <p:cNvSpPr/>
          <p:nvPr/>
        </p:nvSpPr>
        <p:spPr>
          <a:xfrm>
            <a:off x="3538728" y="4279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38728" y="464515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le suivi terrain des rendez-vous confirmés qui lui sont assignés.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9632" y="3657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64224" y="382219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38" name="Text 36"/>
          <p:cNvSpPr/>
          <p:nvPr/>
        </p:nvSpPr>
        <p:spPr>
          <a:xfrm>
            <a:off x="6364224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60" dirty="0"/>
          </a:p>
        </p:txBody>
      </p:sp>
      <p:sp>
        <p:nvSpPr>
          <p:cNvPr id="39" name="Text 37"/>
          <p:cNvSpPr/>
          <p:nvPr/>
        </p:nvSpPr>
        <p:spPr>
          <a:xfrm>
            <a:off x="6364224" y="4279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64224" y="464515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les appels des agents et consulte l’historique des évaluations.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25128" y="3657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89720" y="382219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43" name="Text 41"/>
          <p:cNvSpPr/>
          <p:nvPr/>
        </p:nvSpPr>
        <p:spPr>
          <a:xfrm>
            <a:off x="918972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60" dirty="0"/>
          </a:p>
        </p:txBody>
      </p:sp>
      <p:sp>
        <p:nvSpPr>
          <p:cNvPr id="44" name="Text 42"/>
          <p:cNvSpPr/>
          <p:nvPr/>
        </p:nvSpPr>
        <p:spPr>
          <a:xfrm>
            <a:off x="9189720" y="4279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Technique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189720" y="464515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accès, supervise les agents et la plateforme au quotidien.</a:t>
            </a:r>
            <a:endParaRPr lang="en-US" sz="900" dirty="0"/>
          </a:p>
        </p:txBody>
      </p:sp>
      <p:pic>
        <p:nvPicPr>
          <p:cNvPr id="4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Cas d’utilisation — partie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4178442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699650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: SuperAdmin, Admin, Service Technique, Commercial, Confirmatrice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" y="1435608"/>
            <a:ext cx="10844784" cy="4390034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8" name="Image 0" descr="/tmp/pfe_v5/assets/u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698480" cy="4243730"/>
          </a:xfrm>
          <a:prstGeom prst="rect">
            <a:avLst/>
          </a:prstGeom>
        </p:spPr>
      </p:pic>
      <p:pic>
        <p:nvPicPr>
          <p:cNvPr id="9" name="Image 1" descr="/tmp/pfe_v5/assets/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Cas d’utilisation — partie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4178442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699650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: Agent, Service Confirmation, Service Qualité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435608"/>
            <a:ext cx="10570464" cy="4420210"/>
          </a:xfrm>
          <a:prstGeom prst="roundRect">
            <a:avLst>
              <a:gd name="adj" fmla="val 124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8" name="Image 0" descr="/tmp/pfe_v5/assets/u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10424160" cy="4273906"/>
          </a:xfrm>
          <a:prstGeom prst="rect">
            <a:avLst/>
          </a:prstGeom>
        </p:spPr>
      </p:pic>
      <p:pic>
        <p:nvPicPr>
          <p:cNvPr id="9" name="Image 1" descr="/tmp/pfe_v5/assets/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Architecture logique vs physique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4576389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097597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4983480" cy="411480"/>
          </a:xfrm>
          <a:prstGeom prst="roundRect">
            <a:avLst>
              <a:gd name="adj" fmla="val 17778"/>
            </a:avLst>
          </a:prstGeom>
          <a:solidFill>
            <a:srgbClr val="1FC8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Décrit l’organisation du LOGICIEL : les couches, modules et services, et la manière dont ils échangent des données — indépendamment de l’infrastructure sur laquelle ils tournent.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867912"/>
            <a:ext cx="91440" cy="91440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749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"boîte noire" du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91440" cy="91440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3159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API, services métier, IA, données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5001768"/>
            <a:ext cx="91440" cy="91440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8828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raisonner sur la conception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737360"/>
            <a:ext cx="4983480" cy="411480"/>
          </a:xfrm>
          <a:prstGeom prst="roundRect">
            <a:avLst>
              <a:gd name="adj" fmla="val 17778"/>
            </a:avLst>
          </a:prstGeom>
          <a:solidFill>
            <a:srgbClr val="1A56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7373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physique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Décrit le DÉPLOIEMENT réel : sur quelles machines/serveurs chaque composant s’exécute, et comment ils communiquent sur le réseau.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867912"/>
            <a:ext cx="91440" cy="9144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3749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"infrastructure"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4434840"/>
            <a:ext cx="91440" cy="9144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552" y="43159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clients, serveur applicatif, serveur base de données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5001768"/>
            <a:ext cx="91440" cy="9144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552" y="48828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raisonner sur l’exploitation</a:t>
            </a:r>
            <a:endParaRPr lang="en-US" sz="1050" dirty="0"/>
          </a:p>
        </p:txBody>
      </p:sp>
      <p:pic>
        <p:nvPicPr>
          <p:cNvPr id="2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Architecture logique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233318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754526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6376" y="1344168"/>
            <a:ext cx="9838944" cy="3735345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7" name="Image 0" descr="/tmp/pfe_v5/assets/arch_log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417320"/>
            <a:ext cx="9692640" cy="35890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234961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global : React → API REST (ASP.NET Core) → Services métier → PostgreSQL, avec un appel asynchrone vers le microservice IA pour le scoring.</a:t>
            </a:r>
            <a:endParaRPr lang="en-US" sz="1150" dirty="0"/>
          </a:p>
        </p:txBody>
      </p:sp>
      <p:pic>
        <p:nvPicPr>
          <p:cNvPr id="9" name="Image 1" descr="/tmp/pfe_v5/assets/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Architecture physique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394984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916192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6376" y="1298448"/>
            <a:ext cx="9838944" cy="3782703"/>
          </a:xfrm>
          <a:prstGeom prst="roundRect">
            <a:avLst>
              <a:gd name="adj" fmla="val 14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7" name="Image 0" descr="/tmp/pfe_v5/assets/arch_phys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371600"/>
            <a:ext cx="9692640" cy="36363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190879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actuel (PFE / démonstration) : les trois composants serveur cohabitent sur une même machine. En production, serveur applicatif et serveur de données pourraient être séparés, sans changer l’architecture logique.</a:t>
            </a:r>
            <a:endParaRPr lang="en-US" sz="1050" dirty="0"/>
          </a:p>
        </p:txBody>
      </p:sp>
      <p:pic>
        <p:nvPicPr>
          <p:cNvPr id="9" name="Image 1" descr="/tmp/pfe_v5/assets/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Technologies utilisées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556650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077858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320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0948" y="1737360"/>
            <a:ext cx="1417320" cy="1417320"/>
          </a:xfrm>
          <a:prstGeom prst="ellipse">
            <a:avLst/>
          </a:prstGeom>
          <a:solidFill>
            <a:srgbClr val="17275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0948" y="1737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06628" y="3264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4068" y="1737360"/>
            <a:ext cx="1417320" cy="1417320"/>
          </a:xfrm>
          <a:prstGeom prst="ellipse">
            <a:avLst/>
          </a:prstGeom>
          <a:solidFill>
            <a:srgbClr val="1FC8C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84068" y="1737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3009748" y="3264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87188" y="1737360"/>
            <a:ext cx="1417320" cy="1417320"/>
          </a:xfrm>
          <a:prstGeom prst="ellipse">
            <a:avLst/>
          </a:prstGeom>
          <a:solidFill>
            <a:srgbClr val="1FA37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87188" y="1737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5112868" y="3264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0308" y="1737360"/>
            <a:ext cx="1417320" cy="1417320"/>
          </a:xfrm>
          <a:prstGeom prst="ellipse">
            <a:avLst/>
          </a:prstGeom>
          <a:solidFill>
            <a:srgbClr val="1A56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0308" y="1737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7215988" y="3264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93428" y="1737360"/>
            <a:ext cx="1417320" cy="1417320"/>
          </a:xfrm>
          <a:prstGeom prst="ellipse">
            <a:avLst/>
          </a:prstGeom>
          <a:solidFill>
            <a:srgbClr val="F0A93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93428" y="1737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9319108" y="3264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80948" y="4069080"/>
            <a:ext cx="1417320" cy="1417320"/>
          </a:xfrm>
          <a:prstGeom prst="ellipse">
            <a:avLst/>
          </a:prstGeom>
          <a:solidFill>
            <a:srgbClr val="1A56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80948" y="40690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90662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84068" y="4069080"/>
            <a:ext cx="1417320" cy="1417320"/>
          </a:xfrm>
          <a:prstGeom prst="ellipse">
            <a:avLst/>
          </a:prstGeom>
          <a:solidFill>
            <a:srgbClr val="17275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84068" y="40690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300974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87188" y="4069080"/>
            <a:ext cx="1417320" cy="1417320"/>
          </a:xfrm>
          <a:prstGeom prst="ellipse">
            <a:avLst/>
          </a:prstGeom>
          <a:solidFill>
            <a:srgbClr val="5B4F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87188" y="40690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511286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0308" y="4069080"/>
            <a:ext cx="1417320" cy="1417320"/>
          </a:xfrm>
          <a:prstGeom prst="ellipse">
            <a:avLst/>
          </a:prstGeom>
          <a:solidFill>
            <a:srgbClr val="F0A93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0308" y="40690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325" dirty="0"/>
          </a:p>
        </p:txBody>
      </p:sp>
      <p:sp>
        <p:nvSpPr>
          <p:cNvPr id="32" name="Text 30"/>
          <p:cNvSpPr/>
          <p:nvPr/>
        </p:nvSpPr>
        <p:spPr>
          <a:xfrm>
            <a:off x="721598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93428" y="4069080"/>
            <a:ext cx="1417320" cy="1417320"/>
          </a:xfrm>
          <a:prstGeom prst="ellipse">
            <a:avLst/>
          </a:prstGeom>
          <a:solidFill>
            <a:srgbClr val="14141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593428" y="40690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325" dirty="0"/>
          </a:p>
        </p:txBody>
      </p:sp>
      <p:sp>
        <p:nvSpPr>
          <p:cNvPr id="35" name="Text 33"/>
          <p:cNvSpPr/>
          <p:nvPr/>
        </p:nvSpPr>
        <p:spPr>
          <a:xfrm>
            <a:off x="931910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pic>
        <p:nvPicPr>
          <p:cNvPr id="3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vidéo et choix du module d’intelligence artificielle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Démonstration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2263323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784531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démonstration se fait par une vidéo présentant les parcours clés de la plateforme, commentée en direct le jour de la soutenance.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7275C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868680" cy="868680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170432" y="2359152"/>
            <a:ext cx="384048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14884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démonstration — insérée / lue en direct pendant la soutenance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présentés dans la vidéo 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15" name="Text 13"/>
          <p:cNvSpPr/>
          <p:nvPr/>
        </p:nvSpPr>
        <p:spPr>
          <a:xfrm>
            <a:off x="1234440" y="413308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4709160"/>
            <a:ext cx="3136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→ appel en direct → qualification d’un contact → prise de rendez-vous.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393192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20" name="Text 18"/>
          <p:cNvSpPr/>
          <p:nvPr/>
        </p:nvSpPr>
        <p:spPr>
          <a:xfrm>
            <a:off x="5029200" y="413308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Confirmatrice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44568" y="4709160"/>
            <a:ext cx="3136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EBI/Client → confirmation d’un rendez-vous → fiche contact détaillée.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393192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28" dirty="0"/>
          </a:p>
        </p:txBody>
      </p:sp>
      <p:sp>
        <p:nvSpPr>
          <p:cNvPr id="25" name="Text 23"/>
          <p:cNvSpPr/>
          <p:nvPr/>
        </p:nvSpPr>
        <p:spPr>
          <a:xfrm>
            <a:off x="8823960" y="413308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Chat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39328" y="4709160"/>
            <a:ext cx="3136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d’un appel d’agent, puis démonstration de la messagerie d’équipe temps réel.</a:t>
            </a:r>
            <a:endParaRPr lang="en-US" sz="1000" dirty="0"/>
          </a:p>
        </p:txBody>
      </p:sp>
      <p:pic>
        <p:nvPicPr>
          <p:cNvPr id="2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Choix de l’algorithme 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3581522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02730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RandomForestClassifier (scikit-learn) — 200 arbres, profondeur max. 6, class_weight="balanced" pour compenser le déséquilibre RDV obtenus / refus.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926080" cy="475488"/>
          </a:xfrm>
          <a:prstGeom prst="rect">
            <a:avLst/>
          </a:prstGeom>
          <a:solidFill>
            <a:srgbClr val="1727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834640" cy="475488"/>
          </a:xfrm>
          <a:prstGeom prst="rect">
            <a:avLst/>
          </a:prstGeom>
          <a:solidFill>
            <a:srgbClr val="1727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73736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à peu de données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651760" cy="475488"/>
          </a:xfrm>
          <a:prstGeom prst="rect">
            <a:avLst/>
          </a:prstGeom>
          <a:solidFill>
            <a:srgbClr val="1727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73736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468880" cy="475488"/>
          </a:xfrm>
          <a:prstGeom prst="rect">
            <a:avLst/>
          </a:prstGeom>
          <a:solidFill>
            <a:srgbClr val="1727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272" y="1737360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 num./catégoriel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212848"/>
            <a:ext cx="292608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1284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2212848"/>
            <a:ext cx="28346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2212848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2212848"/>
            <a:ext cx="265176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21284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0" y="2212848"/>
            <a:ext cx="246888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4272" y="2212848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encodage manuel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688336"/>
            <a:ext cx="2926080" cy="475488"/>
          </a:xfrm>
          <a:prstGeom prst="rect">
            <a:avLst/>
          </a:prstGeom>
          <a:solidFill>
            <a:srgbClr val="D9F2E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688336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(retenu)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2688336"/>
            <a:ext cx="2834640" cy="475488"/>
          </a:xfrm>
          <a:prstGeom prst="rect">
            <a:avLst/>
          </a:prstGeom>
          <a:solidFill>
            <a:srgbClr val="D9F2E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688336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2688336"/>
            <a:ext cx="2651760" cy="475488"/>
          </a:xfrm>
          <a:prstGeom prst="rect">
            <a:avLst/>
          </a:prstGeom>
          <a:solidFill>
            <a:srgbClr val="D9F2E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6883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(importance des variables)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0" y="2688336"/>
            <a:ext cx="2468880" cy="475488"/>
          </a:xfrm>
          <a:prstGeom prst="rect">
            <a:avLst/>
          </a:prstGeom>
          <a:solidFill>
            <a:srgbClr val="D9F2E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4272" y="268833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163824"/>
            <a:ext cx="292608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163824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3163824"/>
            <a:ext cx="28346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163824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(besoin de volume)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163824"/>
            <a:ext cx="265176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316382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(boîte noire)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61120" y="3163824"/>
            <a:ext cx="246888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34272" y="3163824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normalisation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39136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 pour un CRM en démarrage 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94360" y="4306824"/>
            <a:ext cx="82296" cy="82296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2062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 bruit et fiable même avec un volume de données modéré — pertinent en phase de démarrage du CRM.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4599432"/>
            <a:ext cx="82296" cy="82296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49884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interprétable (importance des variables) : utile pour expliquer aux équipes pourquoi un lead est bien scoré.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4892040"/>
            <a:ext cx="82296" cy="82296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79145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et inférence rapides, sans infrastructure GPU — adapté au budget IT d’une PME.</a:t>
            </a:r>
            <a:endParaRPr lang="en-US" sz="1000" dirty="0"/>
          </a:p>
        </p:txBody>
      </p:sp>
      <p:pic>
        <p:nvPicPr>
          <p:cNvPr id="4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Mécanisme de calcul du score 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4240621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761829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C8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9" name="Text 7"/>
          <p:cNvSpPr/>
          <p:nvPr/>
        </p:nvSpPr>
        <p:spPr>
          <a:xfrm>
            <a:off x="1234440" y="144475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du contact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057400"/>
            <a:ext cx="4946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contact est transformé en vecteur de 9 caractéristiques normalisées : type de chauffage, âge de la chaudière, équipement PV/PAC, surface, nombre de personnes, niveau de revenu, historique NRP…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463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A56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6949440" y="144475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(dès 50 contacts étiquetés)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64808" y="2057400"/>
            <a:ext cx="4946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déclenche une validation croisée à 5 plis (AUC-ROC) puis l’entraînement du modèle, sauvegardé sur disque (lead_scoring.pkl).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4728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0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28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en production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4041648"/>
            <a:ext cx="4946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RandomForest.predict_proba(vecteur) x 100 — probabilité que le contact obtienne un rendez-vous.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263640" y="3264408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44728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727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28" dirty="0"/>
          </a:p>
        </p:txBody>
      </p:sp>
      <p:sp>
        <p:nvSpPr>
          <p:cNvPr id="24" name="Text 22"/>
          <p:cNvSpPr/>
          <p:nvPr/>
        </p:nvSpPr>
        <p:spPr>
          <a:xfrm>
            <a:off x="6949440" y="34290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heuristique (cold start)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64808" y="4041648"/>
            <a:ext cx="4946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moins de 50 contacts étiquetés sont disponibles, un score heuristique transparent est utilisé, pour éviter tout score arbitraire en début de vie du CRM.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48640" y="518464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chauffage fioul (énergivore), chaudière 14 ans, non équipé PV, 4 personnes  →  score heuristique = 50 + 15 + 10 + 5 + 5 = 85 / 100</a:t>
            </a:r>
            <a:endParaRPr lang="en-US" sz="1000" dirty="0"/>
          </a:p>
        </p:txBody>
      </p:sp>
      <p:pic>
        <p:nvPicPr>
          <p:cNvPr id="2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-457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F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et pistes d’évolution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82128" y="1892808"/>
            <a:ext cx="3072384" cy="3072384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314182" y="2324862"/>
            <a:ext cx="2208276" cy="2208276"/>
          </a:xfrm>
          <a:prstGeom prst="ellipse">
            <a:avLst/>
          </a:prstGeom>
          <a:ln w="33338">
            <a:solidFill>
              <a:srgbClr val="1FC8C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98230" y="2900934"/>
            <a:ext cx="1440180" cy="1056132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3025750"/>
            <a:ext cx="1152144" cy="80650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38260" y="3525780"/>
            <a:ext cx="816102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1" name="Shape 9"/>
          <p:cNvSpPr/>
          <p:nvPr/>
        </p:nvSpPr>
        <p:spPr>
          <a:xfrm>
            <a:off x="8938260" y="3654820"/>
            <a:ext cx="489661" cy="86411"/>
          </a:xfrm>
          <a:prstGeom prst="roundRect">
            <a:avLst>
              <a:gd name="adj" fmla="val 44444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15070" y="3140964"/>
            <a:ext cx="240030" cy="24003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847" y="2474326"/>
            <a:ext cx="422453" cy="422453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745" y="3999626"/>
            <a:ext cx="345643" cy="345643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2383" y="4407491"/>
            <a:ext cx="288036" cy="288036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0995" y="2656103"/>
            <a:ext cx="249631" cy="249631"/>
          </a:xfrm>
          <a:prstGeom prst="ellipse">
            <a:avLst/>
          </a:prstGeom>
          <a:solidFill>
            <a:srgbClr val="17275C"/>
          </a:solidFill>
          <a:ln/>
        </p:spPr>
      </p:sp>
      <p:pic>
        <p:nvPicPr>
          <p:cNvPr id="17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1741018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262226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déployée et fonctionnelle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CRM complet couvrant les 8 rôles métier de 3LM Solutions, du premier appel à l’évaluation qualité.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755648"/>
            <a:ext cx="457200" cy="45720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Scrum éprouvée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 ont permis d’absorber des besoins apparus en cours de route (messagerie, module IA).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aux besoins fixés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177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besoins fonctionnels et non fonctionnels définis en amont ont été couverts.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4808" y="3995928"/>
            <a:ext cx="457200" cy="457200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3977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socle prêt à évoluer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en couches qui facilite l’ajout de nouveaux modules ou rôles.</a:t>
            </a:r>
            <a:endParaRPr lang="en-US" sz="1050" dirty="0"/>
          </a:p>
        </p:txBody>
      </p:sp>
      <p:pic>
        <p:nvPicPr>
          <p:cNvPr id="26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Perspectives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859536"/>
            <a:ext cx="2089221" cy="0"/>
          </a:xfrm>
          <a:prstGeom prst="line">
            <a:avLst/>
          </a:prstGeom>
          <a:noFill/>
          <a:ln w="19050">
            <a:solidFill>
              <a:srgbClr val="1FC8C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610429" y="818388"/>
            <a:ext cx="82296" cy="82296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2112264"/>
            <a:ext cx="1901952" cy="1901952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8" name="Shape 6"/>
          <p:cNvSpPr/>
          <p:nvPr/>
        </p:nvSpPr>
        <p:spPr>
          <a:xfrm>
            <a:off x="2539746" y="2379726"/>
            <a:ext cx="1367028" cy="1367028"/>
          </a:xfrm>
          <a:prstGeom prst="ellipse">
            <a:avLst/>
          </a:prstGeom>
          <a:ln w="20638">
            <a:solidFill>
              <a:srgbClr val="1FC8C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77490" y="2736342"/>
            <a:ext cx="891540" cy="653796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10" name="Shape 8"/>
          <p:cNvSpPr/>
          <p:nvPr/>
        </p:nvSpPr>
        <p:spPr>
          <a:xfrm>
            <a:off x="2866644" y="2813609"/>
            <a:ext cx="713232" cy="49926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3123151"/>
            <a:ext cx="505206" cy="53492"/>
          </a:xfrm>
          <a:prstGeom prst="roundRect">
            <a:avLst>
              <a:gd name="adj" fmla="val 44445"/>
            </a:avLst>
          </a:prstGeom>
          <a:solidFill>
            <a:srgbClr val="1FC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3203033"/>
            <a:ext cx="303124" cy="53492"/>
          </a:xfrm>
          <a:prstGeom prst="roundRect">
            <a:avLst>
              <a:gd name="adj" fmla="val 44445"/>
            </a:avLst>
          </a:prstGeom>
          <a:solidFill>
            <a:srgbClr val="1FC8C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73629" y="2884932"/>
            <a:ext cx="148590" cy="14859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777" y="2472251"/>
            <a:ext cx="261518" cy="261518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8999" y="3416485"/>
            <a:ext cx="213970" cy="213970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6" name="Shape 14"/>
          <p:cNvSpPr/>
          <p:nvPr/>
        </p:nvSpPr>
        <p:spPr>
          <a:xfrm>
            <a:off x="3535299" y="3668973"/>
            <a:ext cx="178308" cy="178308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51107" y="2584780"/>
            <a:ext cx="154534" cy="154534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téléphonique (CTI)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d’une API RingOver ou VoIP/SIP pour déclencher les appels directement depuis la fiche contact.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87284" y="2112264"/>
            <a:ext cx="1901952" cy="1901952"/>
          </a:xfrm>
          <a:prstGeom prst="ellipse">
            <a:avLst/>
          </a:prstGeom>
          <a:solidFill>
            <a:srgbClr val="F3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4746" y="2379726"/>
            <a:ext cx="1367028" cy="1367028"/>
          </a:xfrm>
          <a:prstGeom prst="ellipse">
            <a:avLst/>
          </a:prstGeom>
          <a:ln w="20638">
            <a:solidFill>
              <a:srgbClr val="1FC8C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492490" y="2736342"/>
            <a:ext cx="891540" cy="653796"/>
          </a:xfrm>
          <a:prstGeom prst="roundRect">
            <a:avLst>
              <a:gd name="adj" fmla="val 9091"/>
            </a:avLst>
          </a:prstGeom>
          <a:solidFill>
            <a:srgbClr val="1727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81644" y="2813609"/>
            <a:ext cx="713232" cy="49926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0" y="3123151"/>
            <a:ext cx="505206" cy="53492"/>
          </a:xfrm>
          <a:prstGeom prst="roundRect">
            <a:avLst>
              <a:gd name="adj" fmla="val 44445"/>
            </a:avLst>
          </a:prstGeom>
          <a:solidFill>
            <a:srgbClr val="1FC8C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41080" y="3203033"/>
            <a:ext cx="303124" cy="53492"/>
          </a:xfrm>
          <a:prstGeom prst="roundRect">
            <a:avLst>
              <a:gd name="adj" fmla="val 44445"/>
            </a:avLst>
          </a:prstGeom>
          <a:solidFill>
            <a:srgbClr val="1FC8CE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8629" y="2884932"/>
            <a:ext cx="148590" cy="148590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28" name="Shape 26"/>
          <p:cNvSpPr/>
          <p:nvPr/>
        </p:nvSpPr>
        <p:spPr>
          <a:xfrm>
            <a:off x="9464777" y="2472251"/>
            <a:ext cx="261518" cy="261518"/>
          </a:xfrm>
          <a:prstGeom prst="ellipse">
            <a:avLst/>
          </a:prstGeom>
          <a:solidFill>
            <a:srgbClr val="1FC8CE"/>
          </a:solidFill>
          <a:ln/>
        </p:spPr>
      </p:sp>
      <p:sp>
        <p:nvSpPr>
          <p:cNvPr id="29" name="Shape 27"/>
          <p:cNvSpPr/>
          <p:nvPr/>
        </p:nvSpPr>
        <p:spPr>
          <a:xfrm>
            <a:off x="8173999" y="3416485"/>
            <a:ext cx="213970" cy="213970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50299" y="3668973"/>
            <a:ext cx="178308" cy="178308"/>
          </a:xfrm>
          <a:prstGeom prst="ellipse">
            <a:avLst/>
          </a:prstGeom>
          <a:solidFill>
            <a:srgbClr val="1A56C4"/>
          </a:solidFill>
          <a:ln/>
        </p:spPr>
      </p:sp>
      <p:sp>
        <p:nvSpPr>
          <p:cNvPr id="31" name="Shape 29"/>
          <p:cNvSpPr/>
          <p:nvPr/>
        </p:nvSpPr>
        <p:spPr>
          <a:xfrm>
            <a:off x="8166107" y="2584780"/>
            <a:ext cx="154534" cy="154534"/>
          </a:xfrm>
          <a:prstGeom prst="ellipse">
            <a:avLst/>
          </a:prstGeom>
          <a:solidFill>
            <a:srgbClr val="17275C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114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5262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statut d’un rendez-vous directement depuis le terrain par les commerciaux.</a:t>
            </a:r>
            <a:endParaRPr lang="en-US" sz="1050" dirty="0"/>
          </a:p>
        </p:txBody>
      </p:sp>
      <p:pic>
        <p:nvPicPr>
          <p:cNvPr id="34" name="Image 0" descr="/tmp/pfe_v5/assets/foot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20040" y="6528816"/>
            <a:ext cx="2514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27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6528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971800" y="6665976"/>
            <a:ext cx="7802575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10591495" y="66385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10774375" y="652881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A93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77437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fe_v5/assets/dotgri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 flipH="1">
            <a:off x="9418320" y="3291840"/>
            <a:ext cx="2834640" cy="3566160"/>
          </a:xfrm>
          <a:prstGeom prst="rect">
            <a:avLst/>
          </a:prstGeom>
        </p:spPr>
      </p:pic>
      <p:pic>
        <p:nvPicPr>
          <p:cNvPr id="3" name="Image 1" descr="/tmp/pfe_v5/assets/logo3l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8" y="91440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E2A5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Questions &amp; discussion</a:t>
            </a:r>
            <a:endParaRPr lang="en-US" sz="2400" dirty="0"/>
          </a:p>
        </p:txBody>
      </p:sp>
      <p:pic>
        <p:nvPicPr>
          <p:cNvPr id="6" name="Image 2" descr="/tmp/pfe_v5/assets/cover_grad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0"/>
            <a:ext cx="12191695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2026-09-27T13:46:54Z</dcterms:created>
  <dcterms:modified xsi:type="dcterms:W3CDTF">2026-09-27T13:46:54Z</dcterms:modified>
</cp:coreProperties>
</file>